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92" r:id="rId5"/>
    <p:sldId id="293" r:id="rId6"/>
    <p:sldId id="294" r:id="rId7"/>
    <p:sldId id="295" r:id="rId8"/>
    <p:sldId id="297" r:id="rId9"/>
    <p:sldId id="298" r:id="rId10"/>
    <p:sldId id="299" r:id="rId11"/>
    <p:sldId id="301" r:id="rId12"/>
    <p:sldId id="302" r:id="rId13"/>
    <p:sldId id="303" r:id="rId14"/>
    <p:sldId id="304" r:id="rId15"/>
    <p:sldId id="305" r:id="rId16"/>
    <p:sldId id="307" r:id="rId17"/>
    <p:sldId id="308" r:id="rId18"/>
    <p:sldId id="311" r:id="rId19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204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pPr marL="25400">
                <a:lnSpc>
                  <a:spcPct val="100000"/>
                </a:lnSpc>
              </a:pPr>
              <a:t>‹#›</a:t>
            </a:fld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pPr marL="25400">
                <a:lnSpc>
                  <a:spcPct val="100000"/>
                </a:lnSpc>
              </a:pPr>
              <a:t>‹#›</a:t>
            </a:fld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pPr marL="25400">
                <a:lnSpc>
                  <a:spcPct val="100000"/>
                </a:lnSpc>
              </a:pPr>
              <a:t>‹#›</a:t>
            </a:fld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pPr marL="25400">
                <a:lnSpc>
                  <a:spcPct val="100000"/>
                </a:lnSpc>
              </a:pPr>
              <a:t>‹#›</a:t>
            </a:fld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pPr marL="25400">
                <a:lnSpc>
                  <a:spcPct val="100000"/>
                </a:lnSpc>
              </a:pPr>
              <a:t>‹#›</a:t>
            </a:fld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36063" y="1257045"/>
            <a:ext cx="271652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7120" y="1521308"/>
            <a:ext cx="5798159" cy="4605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9304" y="9255528"/>
            <a:ext cx="702944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pPr marL="25400">
                <a:lnSpc>
                  <a:spcPct val="100000"/>
                </a:lnSpc>
              </a:pPr>
              <a:t>‹#›</a:t>
            </a:fld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aweather.com/api/location/%7b%7bcity_id%7d%7d" TargetMode="External"/><Relationship Id="rId2" Type="http://schemas.openxmlformats.org/officeDocument/2006/relationships/hyperlink" Target="https://www.metaweather.com/api/location/search/?query=%7b%7bcity_user%7d%7d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visualstudio.microsoft.com/" TargetMode="External"/><Relationship Id="rId3" Type="http://schemas.openxmlformats.org/officeDocument/2006/relationships/hyperlink" Target="https://www.infoworld.com/article/3244546/9-chatbot-building-tools.html" TargetMode="External"/><Relationship Id="rId7" Type="http://schemas.openxmlformats.org/officeDocument/2006/relationships/hyperlink" Target="https://knowledgebase.engati.com/kb/" TargetMode="External"/><Relationship Id="rId2" Type="http://schemas.openxmlformats.org/officeDocument/2006/relationships/hyperlink" Target="https://www.expertsystem.com/chatbot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engati.com/" TargetMode="External"/><Relationship Id="rId5" Type="http://schemas.openxmlformats.org/officeDocument/2006/relationships/hyperlink" Target="https://www.analyticsvidhya.com/blog/2019/04/learn-build-chatbot-rasa-nlp-ipl/" TargetMode="External"/><Relationship Id="rId10" Type="http://schemas.openxmlformats.org/officeDocument/2006/relationships/hyperlink" Target="https://swagger.io/" TargetMode="External"/><Relationship Id="rId4" Type="http://schemas.openxmlformats.org/officeDocument/2006/relationships/hyperlink" Target="https://chatbotslife.com/dialogflow-restaurant-bot-tutorial-1-45ce1d3c0ab5" TargetMode="External"/><Relationship Id="rId9" Type="http://schemas.openxmlformats.org/officeDocument/2006/relationships/hyperlink" Target="https://www.google.com/search?q=azure+portal&amp;amp;oq=azure&amp;amp;aqs=chrome.1.69i57j0l3j69i61l2.2587j0j4&amp;amp;sourceid=chrome&amp;amp;ie=UTF-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3340" y="988212"/>
            <a:ext cx="5683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710" marR="5080" indent="-588645">
              <a:lnSpc>
                <a:spcPct val="146900"/>
              </a:lnSpc>
              <a:spcBef>
                <a:spcPts val="100"/>
              </a:spcBef>
            </a:pPr>
            <a:r>
              <a:rPr sz="1600" b="1" spc="-155" dirty="0">
                <a:latin typeface="Georgia"/>
                <a:cs typeface="Georgia"/>
              </a:rPr>
              <a:t>Dr </a:t>
            </a:r>
            <a:r>
              <a:rPr sz="1600" b="1" spc="-175" dirty="0">
                <a:latin typeface="Georgia"/>
                <a:cs typeface="Georgia"/>
              </a:rPr>
              <a:t>B </a:t>
            </a:r>
            <a:r>
              <a:rPr sz="1600" b="1" spc="-220" dirty="0">
                <a:latin typeface="Georgia"/>
                <a:cs typeface="Georgia"/>
              </a:rPr>
              <a:t>R </a:t>
            </a:r>
            <a:r>
              <a:rPr sz="1600" b="1" spc="-114" dirty="0">
                <a:latin typeface="Georgia"/>
                <a:cs typeface="Georgia"/>
              </a:rPr>
              <a:t>Ambedkar National </a:t>
            </a:r>
            <a:r>
              <a:rPr sz="1600" b="1" spc="-90" dirty="0">
                <a:latin typeface="Georgia"/>
                <a:cs typeface="Georgia"/>
              </a:rPr>
              <a:t>Institute </a:t>
            </a:r>
            <a:r>
              <a:rPr sz="1600" b="1" spc="-110" dirty="0">
                <a:latin typeface="Georgia"/>
                <a:cs typeface="Georgia"/>
              </a:rPr>
              <a:t>of </a:t>
            </a:r>
            <a:r>
              <a:rPr sz="1600" b="1" spc="-100" dirty="0">
                <a:latin typeface="Georgia"/>
                <a:cs typeface="Georgia"/>
              </a:rPr>
              <a:t>Technology, </a:t>
            </a:r>
            <a:r>
              <a:rPr sz="1600" b="1" spc="-145" dirty="0">
                <a:latin typeface="Georgia"/>
                <a:cs typeface="Georgia"/>
              </a:rPr>
              <a:t>Jalandhar  </a:t>
            </a:r>
            <a:r>
              <a:rPr sz="1600" b="1" spc="-260" dirty="0">
                <a:latin typeface="Georgia"/>
                <a:cs typeface="Georgia"/>
              </a:rPr>
              <a:t>G </a:t>
            </a:r>
            <a:r>
              <a:rPr sz="1600" b="1" spc="-75" dirty="0">
                <a:latin typeface="Georgia"/>
                <a:cs typeface="Georgia"/>
              </a:rPr>
              <a:t>T </a:t>
            </a:r>
            <a:r>
              <a:rPr sz="1600" b="1" spc="-135" dirty="0">
                <a:latin typeface="Georgia"/>
                <a:cs typeface="Georgia"/>
              </a:rPr>
              <a:t>Road </a:t>
            </a:r>
            <a:r>
              <a:rPr sz="1600" b="1" spc="-100" dirty="0">
                <a:latin typeface="Georgia"/>
                <a:cs typeface="Georgia"/>
              </a:rPr>
              <a:t>Bye </a:t>
            </a:r>
            <a:r>
              <a:rPr sz="1600" b="1" spc="-114" dirty="0">
                <a:latin typeface="Georgia"/>
                <a:cs typeface="Georgia"/>
              </a:rPr>
              <a:t>Pass, </a:t>
            </a:r>
            <a:r>
              <a:rPr sz="1600" b="1" spc="-140" dirty="0">
                <a:latin typeface="Georgia"/>
                <a:cs typeface="Georgia"/>
              </a:rPr>
              <a:t>Jalandhar </a:t>
            </a:r>
            <a:r>
              <a:rPr sz="1600" b="1" spc="210" dirty="0">
                <a:latin typeface="Trebuchet MS"/>
                <a:cs typeface="Trebuchet MS"/>
              </a:rPr>
              <a:t>– </a:t>
            </a:r>
            <a:r>
              <a:rPr sz="1600" b="1" spc="20" dirty="0">
                <a:latin typeface="Georgia"/>
                <a:cs typeface="Georgia"/>
              </a:rPr>
              <a:t>144011</a:t>
            </a:r>
            <a:r>
              <a:rPr sz="1600" b="1" spc="-85" dirty="0">
                <a:latin typeface="Georgia"/>
                <a:cs typeface="Georgia"/>
              </a:rPr>
              <a:t> </a:t>
            </a:r>
            <a:r>
              <a:rPr sz="1600" b="1" spc="-105" dirty="0">
                <a:latin typeface="Georgia"/>
                <a:cs typeface="Georgia"/>
              </a:rPr>
              <a:t>(Punjab)</a:t>
            </a:r>
            <a:endParaRPr sz="1600">
              <a:latin typeface="Georgia"/>
              <a:cs typeface="Georgia"/>
            </a:endParaRPr>
          </a:p>
          <a:p>
            <a:pPr marL="893444">
              <a:lnSpc>
                <a:spcPct val="100000"/>
              </a:lnSpc>
              <a:spcBef>
                <a:spcPts val="885"/>
              </a:spcBef>
            </a:pPr>
            <a:r>
              <a:rPr sz="1600" b="1" spc="-114" dirty="0">
                <a:latin typeface="Georgia"/>
                <a:cs typeface="Georgia"/>
              </a:rPr>
              <a:t>Department of </a:t>
            </a:r>
            <a:r>
              <a:rPr sz="1600" b="1" spc="-105" dirty="0">
                <a:latin typeface="Georgia"/>
                <a:cs typeface="Georgia"/>
              </a:rPr>
              <a:t>Electronics </a:t>
            </a:r>
            <a:r>
              <a:rPr sz="1600" b="1" spc="-120" dirty="0">
                <a:latin typeface="Georgia"/>
                <a:cs typeface="Georgia"/>
              </a:rPr>
              <a:t>and</a:t>
            </a:r>
            <a:r>
              <a:rPr sz="1600" b="1" spc="30" dirty="0">
                <a:latin typeface="Georgia"/>
                <a:cs typeface="Georgia"/>
              </a:rPr>
              <a:t> </a:t>
            </a:r>
            <a:r>
              <a:rPr sz="1600" b="1" spc="-130" dirty="0">
                <a:latin typeface="Georgia"/>
                <a:cs typeface="Georgia"/>
              </a:rPr>
              <a:t>Communication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8922" y="6065901"/>
            <a:ext cx="4181475" cy="172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8545">
              <a:lnSpc>
                <a:spcPct val="100000"/>
              </a:lnSpc>
              <a:spcBef>
                <a:spcPts val="100"/>
              </a:spcBef>
            </a:pPr>
            <a:r>
              <a:rPr sz="1800" b="1" spc="-290" dirty="0">
                <a:latin typeface="Arial"/>
                <a:cs typeface="Arial"/>
              </a:rPr>
              <a:t>PROJECT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254" dirty="0">
                <a:latin typeface="Arial"/>
                <a:cs typeface="Arial"/>
              </a:rPr>
              <a:t>REPORT</a:t>
            </a:r>
            <a:endParaRPr sz="1800">
              <a:latin typeface="Arial"/>
              <a:cs typeface="Arial"/>
            </a:endParaRPr>
          </a:p>
          <a:p>
            <a:pPr marL="177165">
              <a:lnSpc>
                <a:spcPts val="1914"/>
              </a:lnSpc>
              <a:spcBef>
                <a:spcPts val="55"/>
              </a:spcBef>
            </a:pPr>
            <a:r>
              <a:rPr sz="1600" b="1" spc="-145" dirty="0">
                <a:latin typeface="Arial"/>
                <a:cs typeface="Arial"/>
              </a:rPr>
              <a:t>SUMMER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140" dirty="0">
                <a:latin typeface="Arial"/>
                <a:cs typeface="Arial"/>
              </a:rPr>
              <a:t>INTERNSHIP-CUM-TRAINING</a:t>
            </a:r>
            <a:endParaRPr sz="1600">
              <a:latin typeface="Arial"/>
              <a:cs typeface="Arial"/>
            </a:endParaRPr>
          </a:p>
          <a:p>
            <a:pPr marL="1169670">
              <a:lnSpc>
                <a:spcPts val="1914"/>
              </a:lnSpc>
            </a:pPr>
            <a:r>
              <a:rPr sz="1600" b="1" spc="-220" dirty="0">
                <a:latin typeface="Arial"/>
                <a:cs typeface="Arial"/>
              </a:rPr>
              <a:t>JUNE-JULY</a:t>
            </a:r>
            <a:r>
              <a:rPr sz="1600" b="1" spc="-90" dirty="0">
                <a:latin typeface="Arial"/>
                <a:cs typeface="Arial"/>
              </a:rPr>
              <a:t> </a:t>
            </a:r>
            <a:r>
              <a:rPr sz="1600" b="1" spc="-65" dirty="0">
                <a:latin typeface="Arial"/>
                <a:cs typeface="Arial"/>
              </a:rPr>
              <a:t>(2019)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marR="5080" indent="354965">
              <a:lnSpc>
                <a:spcPct val="101699"/>
              </a:lnSpc>
              <a:spcBef>
                <a:spcPts val="1080"/>
              </a:spcBef>
              <a:tabLst>
                <a:tab pos="2410460" algn="l"/>
              </a:tabLst>
            </a:pPr>
            <a:r>
              <a:rPr sz="1800" b="1" spc="-105" dirty="0">
                <a:latin typeface="Arial"/>
                <a:cs typeface="Arial"/>
              </a:rPr>
              <a:t>Mohammad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195" dirty="0">
                <a:latin typeface="Arial"/>
                <a:cs typeface="Arial"/>
              </a:rPr>
              <a:t>Anas	</a:t>
            </a:r>
            <a:r>
              <a:rPr sz="1800" b="1" spc="-90" dirty="0">
                <a:latin typeface="Arial"/>
                <a:cs typeface="Arial"/>
              </a:rPr>
              <a:t>16104045  </a:t>
            </a:r>
            <a:r>
              <a:rPr sz="1800" b="1" spc="-150" dirty="0">
                <a:latin typeface="Arial"/>
                <a:cs typeface="Arial"/>
              </a:rPr>
              <a:t>Electronics </a:t>
            </a:r>
            <a:r>
              <a:rPr sz="1800" b="1" spc="-130" dirty="0">
                <a:latin typeface="Arial"/>
                <a:cs typeface="Arial"/>
              </a:rPr>
              <a:t>and </a:t>
            </a:r>
            <a:r>
              <a:rPr sz="1800" b="1" spc="-140" dirty="0">
                <a:latin typeface="Arial"/>
                <a:cs typeface="Arial"/>
              </a:rPr>
              <a:t>Communication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150" dirty="0">
                <a:latin typeface="Arial"/>
                <a:cs typeface="Arial"/>
              </a:rPr>
              <a:t>Engineering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80639" y="2683510"/>
            <a:ext cx="2609215" cy="27524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704" y="1519173"/>
            <a:ext cx="6094730" cy="518604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217804">
              <a:lnSpc>
                <a:spcPts val="2300"/>
              </a:lnSpc>
              <a:spcBef>
                <a:spcPts val="260"/>
              </a:spcBef>
            </a:pPr>
            <a:r>
              <a:rPr sz="2000" b="1" dirty="0">
                <a:solidFill>
                  <a:srgbClr val="365F92"/>
                </a:solidFill>
                <a:latin typeface="Arial"/>
                <a:cs typeface="Arial"/>
              </a:rPr>
              <a:t>TO </a:t>
            </a:r>
            <a:r>
              <a:rPr sz="2000" b="1" spc="-5" dirty="0">
                <a:solidFill>
                  <a:srgbClr val="365F92"/>
                </a:solidFill>
                <a:latin typeface="Arial"/>
                <a:cs typeface="Arial"/>
              </a:rPr>
              <a:t>DEVELOP </a:t>
            </a:r>
            <a:r>
              <a:rPr sz="2000" b="1" dirty="0">
                <a:solidFill>
                  <a:srgbClr val="365F92"/>
                </a:solidFill>
                <a:latin typeface="Arial"/>
                <a:cs typeface="Arial"/>
              </a:rPr>
              <a:t>A </a:t>
            </a:r>
            <a:r>
              <a:rPr sz="2000" b="1" spc="-5" dirty="0">
                <a:solidFill>
                  <a:srgbClr val="365F92"/>
                </a:solidFill>
                <a:latin typeface="Arial"/>
                <a:cs typeface="Arial"/>
              </a:rPr>
              <a:t>CHATBOT </a:t>
            </a:r>
            <a:r>
              <a:rPr sz="2000" b="1" dirty="0">
                <a:solidFill>
                  <a:srgbClr val="365F92"/>
                </a:solidFill>
                <a:latin typeface="Arial"/>
                <a:cs typeface="Arial"/>
              </a:rPr>
              <a:t>&amp; </a:t>
            </a:r>
            <a:r>
              <a:rPr sz="2000" b="1" spc="-5" dirty="0">
                <a:solidFill>
                  <a:srgbClr val="365F92"/>
                </a:solidFill>
                <a:latin typeface="Arial"/>
                <a:cs typeface="Arial"/>
              </a:rPr>
              <a:t>integrate it </a:t>
            </a:r>
            <a:r>
              <a:rPr sz="2000" b="1" spc="5" dirty="0">
                <a:solidFill>
                  <a:srgbClr val="365F92"/>
                </a:solidFill>
                <a:latin typeface="Arial"/>
                <a:cs typeface="Arial"/>
              </a:rPr>
              <a:t>with </a:t>
            </a:r>
            <a:r>
              <a:rPr sz="2000" b="1" spc="-5" dirty="0">
                <a:solidFill>
                  <a:srgbClr val="365F92"/>
                </a:solidFill>
                <a:latin typeface="Arial"/>
                <a:cs typeface="Arial"/>
              </a:rPr>
              <a:t>the  following API’s </a:t>
            </a:r>
            <a:r>
              <a:rPr sz="2000" b="1" dirty="0">
                <a:solidFill>
                  <a:srgbClr val="365F92"/>
                </a:solidFill>
                <a:latin typeface="Arial"/>
                <a:cs typeface="Arial"/>
              </a:rPr>
              <a:t>of the </a:t>
            </a:r>
            <a:r>
              <a:rPr sz="2000" b="1" spc="-5" dirty="0">
                <a:solidFill>
                  <a:srgbClr val="365F92"/>
                </a:solidFill>
                <a:latin typeface="Arial"/>
                <a:cs typeface="Arial"/>
              </a:rPr>
              <a:t>Meridian</a:t>
            </a:r>
            <a:r>
              <a:rPr sz="2000" b="1" dirty="0">
                <a:solidFill>
                  <a:srgbClr val="365F92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65F92"/>
                </a:solidFill>
                <a:latin typeface="Arial"/>
                <a:cs typeface="Arial"/>
              </a:rPr>
              <a:t>Project:</a:t>
            </a:r>
            <a:endParaRPr sz="20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SzPct val="111111"/>
              <a:buFont typeface="Symbol"/>
              <a:buChar char=""/>
              <a:tabLst>
                <a:tab pos="469900" algn="l"/>
              </a:tabLst>
            </a:pPr>
            <a:r>
              <a:rPr sz="1800" b="1" dirty="0">
                <a:solidFill>
                  <a:srgbClr val="365F92"/>
                </a:solidFill>
                <a:latin typeface="Arial"/>
                <a:cs typeface="Arial"/>
              </a:rPr>
              <a:t>Simple</a:t>
            </a:r>
            <a:r>
              <a:rPr sz="1800" b="1" spc="-5" dirty="0">
                <a:solidFill>
                  <a:srgbClr val="365F92"/>
                </a:solidFill>
                <a:latin typeface="Arial"/>
                <a:cs typeface="Arial"/>
              </a:rPr>
              <a:t> Estimate</a:t>
            </a:r>
            <a:endParaRPr sz="18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90"/>
              </a:spcBef>
              <a:buSzPct val="111111"/>
              <a:buFont typeface="Symbol"/>
              <a:buChar char=""/>
              <a:tabLst>
                <a:tab pos="469900" algn="l"/>
              </a:tabLst>
            </a:pPr>
            <a:r>
              <a:rPr sz="1800" b="1" spc="-5" dirty="0">
                <a:solidFill>
                  <a:srgbClr val="365F92"/>
                </a:solidFill>
                <a:latin typeface="Arial"/>
                <a:cs typeface="Arial"/>
              </a:rPr>
              <a:t>Retail</a:t>
            </a:r>
            <a:r>
              <a:rPr sz="1800" b="1" dirty="0">
                <a:solidFill>
                  <a:srgbClr val="365F9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65F92"/>
                </a:solidFill>
                <a:latin typeface="Arial"/>
                <a:cs typeface="Arial"/>
              </a:rPr>
              <a:t>Estimate</a:t>
            </a:r>
            <a:endParaRPr sz="18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345"/>
              </a:spcBef>
              <a:buSzPct val="111111"/>
              <a:buFont typeface="Symbol"/>
              <a:buChar char=""/>
              <a:tabLst>
                <a:tab pos="469900" algn="l"/>
              </a:tabLst>
            </a:pPr>
            <a:r>
              <a:rPr sz="1800" b="1" spc="-5" dirty="0">
                <a:solidFill>
                  <a:srgbClr val="365F92"/>
                </a:solidFill>
                <a:latin typeface="Arial"/>
                <a:cs typeface="Arial"/>
              </a:rPr>
              <a:t>Medical</a:t>
            </a:r>
            <a:r>
              <a:rPr sz="1800" b="1" dirty="0">
                <a:solidFill>
                  <a:srgbClr val="365F9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65F92"/>
                </a:solidFill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SzPct val="111111"/>
              <a:buFont typeface="Symbol"/>
              <a:buChar char=""/>
              <a:tabLst>
                <a:tab pos="469900" algn="l"/>
              </a:tabLst>
            </a:pPr>
            <a:r>
              <a:rPr sz="1800" b="1" spc="-5" dirty="0">
                <a:solidFill>
                  <a:srgbClr val="365F92"/>
                </a:solidFill>
                <a:latin typeface="Arial"/>
                <a:cs typeface="Arial"/>
              </a:rPr>
              <a:t>Medical Service </a:t>
            </a:r>
            <a:r>
              <a:rPr sz="1800" b="1" dirty="0">
                <a:solidFill>
                  <a:srgbClr val="365F92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5" dirty="0">
                <a:solidFill>
                  <a:srgbClr val="1F5668"/>
                </a:solidFill>
                <a:latin typeface="Arial"/>
                <a:cs typeface="Arial"/>
              </a:rPr>
              <a:t>Name: </a:t>
            </a:r>
            <a:r>
              <a:rPr sz="1600" spc="-65" dirty="0">
                <a:latin typeface="Arial"/>
                <a:cs typeface="Arial"/>
              </a:rPr>
              <a:t>Mohammad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125" dirty="0">
                <a:latin typeface="Arial"/>
                <a:cs typeface="Arial"/>
              </a:rPr>
              <a:t>Anas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600" b="1" spc="-125" dirty="0">
                <a:solidFill>
                  <a:srgbClr val="1F5668"/>
                </a:solidFill>
                <a:latin typeface="Arial"/>
                <a:cs typeface="Arial"/>
              </a:rPr>
              <a:t>Roll </a:t>
            </a:r>
            <a:r>
              <a:rPr sz="1600" b="1" spc="-105" dirty="0">
                <a:solidFill>
                  <a:srgbClr val="1F5668"/>
                </a:solidFill>
                <a:latin typeface="Arial"/>
                <a:cs typeface="Arial"/>
              </a:rPr>
              <a:t>No:</a:t>
            </a:r>
            <a:r>
              <a:rPr sz="1600" b="1" spc="-40" dirty="0">
                <a:solidFill>
                  <a:srgbClr val="1F5668"/>
                </a:solidFill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16104045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600" b="1" spc="-114" dirty="0">
                <a:solidFill>
                  <a:srgbClr val="1F5668"/>
                </a:solidFill>
                <a:latin typeface="Arial"/>
                <a:cs typeface="Arial"/>
              </a:rPr>
              <a:t>Discipline: </a:t>
            </a:r>
            <a:r>
              <a:rPr sz="1600" spc="-75" dirty="0">
                <a:latin typeface="Arial"/>
                <a:cs typeface="Arial"/>
              </a:rPr>
              <a:t>Electronics </a:t>
            </a:r>
            <a:r>
              <a:rPr sz="1600" spc="-80" dirty="0">
                <a:latin typeface="Arial"/>
                <a:cs typeface="Arial"/>
              </a:rPr>
              <a:t>and </a:t>
            </a:r>
            <a:r>
              <a:rPr sz="1600" spc="-65" dirty="0">
                <a:latin typeface="Arial"/>
                <a:cs typeface="Arial"/>
              </a:rPr>
              <a:t>Communication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Engineering</a:t>
            </a:r>
            <a:endParaRPr sz="1600">
              <a:latin typeface="Arial"/>
              <a:cs typeface="Arial"/>
            </a:endParaRPr>
          </a:p>
          <a:p>
            <a:pPr marL="12700" marR="256540">
              <a:lnSpc>
                <a:spcPts val="2930"/>
              </a:lnSpc>
              <a:spcBef>
                <a:spcPts val="260"/>
              </a:spcBef>
            </a:pPr>
            <a:r>
              <a:rPr sz="1600" b="1" spc="-105" dirty="0">
                <a:solidFill>
                  <a:srgbClr val="1F5668"/>
                </a:solidFill>
                <a:latin typeface="Arial"/>
                <a:cs typeface="Arial"/>
              </a:rPr>
              <a:t>Name </a:t>
            </a:r>
            <a:r>
              <a:rPr sz="1600" b="1" spc="-75" dirty="0">
                <a:solidFill>
                  <a:srgbClr val="1F5668"/>
                </a:solidFill>
                <a:latin typeface="Arial"/>
                <a:cs typeface="Arial"/>
              </a:rPr>
              <a:t>of </a:t>
            </a:r>
            <a:r>
              <a:rPr sz="1600" b="1" spc="-65" dirty="0">
                <a:solidFill>
                  <a:srgbClr val="1F5668"/>
                </a:solidFill>
                <a:latin typeface="Arial"/>
                <a:cs typeface="Arial"/>
              </a:rPr>
              <a:t>the </a:t>
            </a:r>
            <a:r>
              <a:rPr sz="1600" b="1" spc="-105" dirty="0">
                <a:solidFill>
                  <a:srgbClr val="1F5668"/>
                </a:solidFill>
                <a:latin typeface="Arial"/>
                <a:cs typeface="Arial"/>
              </a:rPr>
              <a:t>Organization: </a:t>
            </a:r>
            <a:r>
              <a:rPr sz="1600" spc="-50" dirty="0">
                <a:latin typeface="Arial"/>
                <a:cs typeface="Arial"/>
              </a:rPr>
              <a:t>UnitedHealth </a:t>
            </a:r>
            <a:r>
              <a:rPr sz="1600" spc="-75" dirty="0">
                <a:latin typeface="Arial"/>
                <a:cs typeface="Arial"/>
              </a:rPr>
              <a:t>Group </a:t>
            </a:r>
            <a:r>
              <a:rPr sz="1600" spc="-125" dirty="0">
                <a:latin typeface="Arial"/>
                <a:cs typeface="Arial"/>
              </a:rPr>
              <a:t>(UHG) </a:t>
            </a:r>
            <a:r>
              <a:rPr sz="1600" spc="-45" dirty="0">
                <a:latin typeface="Arial"/>
                <a:cs typeface="Arial"/>
              </a:rPr>
              <a:t>- </a:t>
            </a:r>
            <a:r>
              <a:rPr sz="1600" spc="-55" dirty="0">
                <a:latin typeface="Arial"/>
                <a:cs typeface="Arial"/>
              </a:rPr>
              <a:t>Optum </a:t>
            </a:r>
            <a:r>
              <a:rPr sz="1600" spc="-75" dirty="0">
                <a:latin typeface="Arial"/>
                <a:cs typeface="Arial"/>
              </a:rPr>
              <a:t>Global  </a:t>
            </a:r>
            <a:r>
              <a:rPr sz="1600" spc="-70" dirty="0">
                <a:latin typeface="Arial"/>
                <a:cs typeface="Arial"/>
              </a:rPr>
              <a:t>Solutions,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80" dirty="0">
                <a:latin typeface="Arial"/>
                <a:cs typeface="Arial"/>
              </a:rPr>
              <a:t>Hyderabad, </a:t>
            </a:r>
            <a:r>
              <a:rPr sz="1600" spc="-95" dirty="0">
                <a:latin typeface="Arial"/>
                <a:cs typeface="Arial"/>
              </a:rPr>
              <a:t>Telangana, </a:t>
            </a:r>
            <a:r>
              <a:rPr sz="1600" spc="-55" dirty="0">
                <a:latin typeface="Arial"/>
                <a:cs typeface="Arial"/>
              </a:rPr>
              <a:t>India.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2500"/>
              </a:lnSpc>
              <a:spcBef>
                <a:spcPts val="10"/>
              </a:spcBef>
            </a:pPr>
            <a:r>
              <a:rPr sz="1600" b="1" spc="-105" dirty="0">
                <a:solidFill>
                  <a:srgbClr val="1F5668"/>
                </a:solidFill>
                <a:latin typeface="Arial"/>
                <a:cs typeface="Arial"/>
              </a:rPr>
              <a:t>Name </a:t>
            </a:r>
            <a:r>
              <a:rPr sz="1600" b="1" spc="-75" dirty="0">
                <a:solidFill>
                  <a:srgbClr val="1F5668"/>
                </a:solidFill>
                <a:latin typeface="Arial"/>
                <a:cs typeface="Arial"/>
              </a:rPr>
              <a:t>of </a:t>
            </a:r>
            <a:r>
              <a:rPr sz="1600" b="1" spc="-65" dirty="0">
                <a:solidFill>
                  <a:srgbClr val="1F5668"/>
                </a:solidFill>
                <a:latin typeface="Arial"/>
                <a:cs typeface="Arial"/>
              </a:rPr>
              <a:t>the </a:t>
            </a:r>
            <a:r>
              <a:rPr sz="1600" b="1" spc="-70" dirty="0">
                <a:solidFill>
                  <a:srgbClr val="1F5668"/>
                </a:solidFill>
                <a:latin typeface="Arial"/>
                <a:cs typeface="Arial"/>
              </a:rPr>
              <a:t>Institute: </a:t>
            </a:r>
            <a:r>
              <a:rPr sz="1600" spc="-80" dirty="0">
                <a:latin typeface="Arial"/>
                <a:cs typeface="Arial"/>
              </a:rPr>
              <a:t>Dr </a:t>
            </a:r>
            <a:r>
              <a:rPr sz="1600" spc="-200" dirty="0">
                <a:latin typeface="Arial"/>
                <a:cs typeface="Arial"/>
              </a:rPr>
              <a:t>B </a:t>
            </a:r>
            <a:r>
              <a:rPr sz="1600" spc="-290" dirty="0">
                <a:latin typeface="Arial"/>
                <a:cs typeface="Arial"/>
              </a:rPr>
              <a:t>R </a:t>
            </a:r>
            <a:r>
              <a:rPr sz="1600" spc="-75" dirty="0">
                <a:latin typeface="Arial"/>
                <a:cs typeface="Arial"/>
              </a:rPr>
              <a:t>Ambedkar </a:t>
            </a:r>
            <a:r>
              <a:rPr sz="1600" spc="-50" dirty="0">
                <a:latin typeface="Arial"/>
                <a:cs typeface="Arial"/>
              </a:rPr>
              <a:t>National </a:t>
            </a:r>
            <a:r>
              <a:rPr sz="1600" spc="-20" dirty="0">
                <a:latin typeface="Arial"/>
                <a:cs typeface="Arial"/>
              </a:rPr>
              <a:t>Institute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85" dirty="0">
                <a:latin typeface="Arial"/>
                <a:cs typeface="Arial"/>
              </a:rPr>
              <a:t>Technology,  Jalandhar, </a:t>
            </a:r>
            <a:r>
              <a:rPr sz="1600" spc="-80" dirty="0">
                <a:latin typeface="Arial"/>
                <a:cs typeface="Arial"/>
              </a:rPr>
              <a:t>Punjab,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India.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4829" y="675640"/>
            <a:ext cx="4131183" cy="1739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6619" y="8300719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95142" y="2505202"/>
            <a:ext cx="2818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</a:rPr>
              <a:t>PROJECT</a:t>
            </a:r>
            <a:r>
              <a:rPr sz="2400" u="heavy" spc="-4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</a:rPr>
              <a:t> </a:t>
            </a:r>
            <a:r>
              <a:rPr sz="2400" u="heavy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</a:rPr>
              <a:t>REPORT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02004" y="2876830"/>
            <a:ext cx="5918200" cy="16764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b="1" spc="-5" dirty="0">
                <a:solidFill>
                  <a:srgbClr val="202020"/>
                </a:solidFill>
                <a:latin typeface="Arial"/>
                <a:cs typeface="Arial"/>
              </a:rPr>
              <a:t>PROJECT </a:t>
            </a:r>
            <a:r>
              <a:rPr sz="1600" b="1" dirty="0">
                <a:solidFill>
                  <a:srgbClr val="202020"/>
                </a:solidFill>
                <a:latin typeface="Arial"/>
                <a:cs typeface="Arial"/>
              </a:rPr>
              <a:t>NAME</a:t>
            </a:r>
            <a:r>
              <a:rPr sz="1600" dirty="0">
                <a:solidFill>
                  <a:srgbClr val="202020"/>
                </a:solidFill>
                <a:latin typeface="Arial"/>
                <a:cs typeface="Arial"/>
              </a:rPr>
              <a:t>:</a:t>
            </a:r>
            <a:r>
              <a:rPr sz="1600" spc="-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02020"/>
                </a:solidFill>
                <a:latin typeface="Arial"/>
                <a:cs typeface="Arial"/>
              </a:rPr>
              <a:t>MERIDIAN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95800"/>
              </a:lnSpc>
              <a:spcBef>
                <a:spcPts val="980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TASK </a:t>
            </a:r>
            <a:r>
              <a:rPr sz="1600" b="1" spc="-5" dirty="0">
                <a:solidFill>
                  <a:srgbClr val="202020"/>
                </a:solidFill>
                <a:latin typeface="Arial"/>
                <a:cs typeface="Arial"/>
              </a:rPr>
              <a:t>ASSIGNED</a:t>
            </a:r>
            <a:r>
              <a:rPr sz="1600" spc="-5" dirty="0">
                <a:solidFill>
                  <a:srgbClr val="202020"/>
                </a:solidFill>
                <a:latin typeface="Arial"/>
                <a:cs typeface="Arial"/>
              </a:rPr>
              <a:t>: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To develop a chat bot </a:t>
            </a:r>
            <a:r>
              <a:rPr sz="1600" spc="-10" dirty="0">
                <a:solidFill>
                  <a:srgbClr val="444444"/>
                </a:solidFill>
                <a:latin typeface="Arial"/>
                <a:cs typeface="Arial"/>
              </a:rPr>
              <a:t>with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a modernized user  touchpoint and integrate it </a:t>
            </a:r>
            <a:r>
              <a:rPr sz="1600" spc="-10" dirty="0">
                <a:solidFill>
                  <a:srgbClr val="444444"/>
                </a:solidFill>
                <a:latin typeface="Arial"/>
                <a:cs typeface="Arial"/>
              </a:rPr>
              <a:t>with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the patient estimation API as well  as the other </a:t>
            </a:r>
            <a:r>
              <a:rPr sz="1600" dirty="0">
                <a:solidFill>
                  <a:srgbClr val="444444"/>
                </a:solidFill>
                <a:latin typeface="Arial"/>
                <a:cs typeface="Arial"/>
              </a:rPr>
              <a:t>API's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of the meridian project, </a:t>
            </a:r>
            <a:r>
              <a:rPr sz="1600" spc="-10" dirty="0">
                <a:solidFill>
                  <a:srgbClr val="444444"/>
                </a:solidFill>
                <a:latin typeface="Arial"/>
                <a:cs typeface="Arial"/>
              </a:rPr>
              <a:t>which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internally  connects </a:t>
            </a:r>
            <a:r>
              <a:rPr sz="1600" spc="-10" dirty="0">
                <a:solidFill>
                  <a:srgbClr val="444444"/>
                </a:solidFill>
                <a:latin typeface="Arial"/>
                <a:cs typeface="Arial"/>
              </a:rPr>
              <a:t>with </a:t>
            </a:r>
            <a:r>
              <a:rPr sz="1600" dirty="0">
                <a:solidFill>
                  <a:srgbClr val="444444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back-end systems and provide </a:t>
            </a:r>
            <a:r>
              <a:rPr sz="1600" dirty="0">
                <a:solidFill>
                  <a:srgbClr val="444444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data as </a:t>
            </a:r>
            <a:r>
              <a:rPr sz="1600" dirty="0">
                <a:solidFill>
                  <a:srgbClr val="444444"/>
                </a:solidFill>
                <a:latin typeface="Arial"/>
                <a:cs typeface="Arial"/>
              </a:rPr>
              <a:t>per 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1600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44444"/>
                </a:solidFill>
                <a:latin typeface="Arial"/>
                <a:cs typeface="Arial"/>
              </a:rPr>
              <a:t>request.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5370957"/>
            <a:ext cx="956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02020"/>
                </a:solidFill>
                <a:latin typeface="Arial"/>
                <a:cs typeface="Arial"/>
              </a:rPr>
              <a:t>REPORT</a:t>
            </a:r>
            <a:r>
              <a:rPr sz="1200" b="1" spc="-7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02020"/>
                </a:solidFill>
                <a:latin typeface="Arial"/>
                <a:cs typeface="Arial"/>
              </a:rPr>
              <a:t>BY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2989" y="5370957"/>
            <a:ext cx="2472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02020"/>
                </a:solidFill>
                <a:latin typeface="Arial"/>
                <a:cs typeface="Arial"/>
              </a:rPr>
              <a:t>PRODUCT </a:t>
            </a:r>
            <a:r>
              <a:rPr sz="1200" b="1" dirty="0">
                <a:solidFill>
                  <a:srgbClr val="202020"/>
                </a:solidFill>
                <a:latin typeface="Arial"/>
                <a:cs typeface="Arial"/>
              </a:rPr>
              <a:t>OWNER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: </a:t>
            </a: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M.S</a:t>
            </a:r>
            <a:r>
              <a:rPr sz="1200" u="sng" spc="-4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SRINATH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5698616"/>
            <a:ext cx="140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MOHAMMAD</a:t>
            </a:r>
            <a:r>
              <a:rPr sz="1200" u="sng" spc="-60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ANAS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2989" y="5698616"/>
            <a:ext cx="1617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02020"/>
                </a:solidFill>
                <a:latin typeface="Arial"/>
                <a:cs typeface="Arial"/>
              </a:rPr>
              <a:t>PROJECT</a:t>
            </a:r>
            <a:r>
              <a:rPr sz="1200" b="1" spc="-6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02020"/>
                </a:solidFill>
                <a:latin typeface="Arial"/>
                <a:cs typeface="Arial"/>
              </a:rPr>
              <a:t>MANAGER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6027801"/>
            <a:ext cx="2954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INTERN </a:t>
            </a: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@ OPTUM GLOBAL</a:t>
            </a:r>
            <a:r>
              <a:rPr sz="1200" u="sng" spc="-5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SOLUTIONS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3469" y="6027801"/>
            <a:ext cx="1901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SRUJANA</a:t>
            </a:r>
            <a:r>
              <a:rPr sz="1200" u="sng" spc="-5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SHREEVASTAV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277" y="6558153"/>
            <a:ext cx="2219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02020"/>
                </a:solidFill>
                <a:latin typeface="Arial"/>
                <a:cs typeface="Arial"/>
              </a:rPr>
              <a:t>MENTOR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: </a:t>
            </a:r>
            <a:r>
              <a:rPr sz="1200" u="sng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SOURABH</a:t>
            </a:r>
            <a:r>
              <a:rPr sz="1200" u="sng" spc="-70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DWIVEDI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2004" y="6885813"/>
            <a:ext cx="2873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02020"/>
                </a:solidFill>
                <a:latin typeface="Arial"/>
                <a:cs typeface="Arial"/>
              </a:rPr>
              <a:t>TENURE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:3</a:t>
            </a:r>
            <a:r>
              <a:rPr sz="1200" spc="-7" baseline="27777" dirty="0">
                <a:solidFill>
                  <a:srgbClr val="202020"/>
                </a:solidFill>
                <a:latin typeface="Arial"/>
                <a:cs typeface="Arial"/>
              </a:rPr>
              <a:t>rd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JUNE 2019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-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26</a:t>
            </a:r>
            <a:r>
              <a:rPr sz="1200" spc="-7" baseline="27777" dirty="0">
                <a:solidFill>
                  <a:srgbClr val="202020"/>
                </a:solidFill>
                <a:latin typeface="Arial"/>
                <a:cs typeface="Arial"/>
              </a:rPr>
              <a:t>th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JULY </a:t>
            </a:r>
            <a:r>
              <a:rPr sz="1200" spc="-10" dirty="0">
                <a:solidFill>
                  <a:srgbClr val="202020"/>
                </a:solidFill>
                <a:latin typeface="Arial"/>
                <a:cs typeface="Arial"/>
              </a:rPr>
              <a:t>2019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8040" y="6885813"/>
            <a:ext cx="1642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02020"/>
                </a:solidFill>
                <a:latin typeface="Arial"/>
                <a:cs typeface="Arial"/>
              </a:rPr>
              <a:t>H.R.</a:t>
            </a:r>
            <a:r>
              <a:rPr sz="1200" b="1" spc="-4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02020"/>
                </a:solidFill>
                <a:latin typeface="Arial"/>
                <a:cs typeface="Arial"/>
              </a:rPr>
              <a:t>MANAGER</a:t>
            </a:r>
            <a:r>
              <a:rPr sz="1200" u="sng" spc="-5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Arial"/>
                <a:cs typeface="Arial"/>
              </a:rPr>
              <a:t>:RAJNI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83689" y="7073265"/>
            <a:ext cx="2184400" cy="0"/>
          </a:xfrm>
          <a:custGeom>
            <a:avLst/>
            <a:gdLst/>
            <a:ahLst/>
            <a:cxnLst/>
            <a:rect l="l" t="t" r="r" b="b"/>
            <a:pathLst>
              <a:path w="2184400">
                <a:moveTo>
                  <a:pt x="0" y="0"/>
                </a:moveTo>
                <a:lnTo>
                  <a:pt x="2184400" y="0"/>
                </a:lnTo>
              </a:path>
            </a:pathLst>
          </a:custGeom>
          <a:ln w="10668">
            <a:solidFill>
              <a:srgbClr val="202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062857" y="9238764"/>
            <a:ext cx="12890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58085" y="1609090"/>
            <a:ext cx="3871595" cy="16262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065" marR="5080" algn="ctr">
              <a:lnSpc>
                <a:spcPct val="95900"/>
              </a:lnSpc>
              <a:spcBef>
                <a:spcPts val="275"/>
              </a:spcBef>
            </a:pPr>
            <a:r>
              <a:rPr dirty="0"/>
              <a:t>HOW </a:t>
            </a:r>
            <a:r>
              <a:rPr spc="-15" dirty="0"/>
              <a:t>TO</a:t>
            </a:r>
            <a:r>
              <a:rPr spc="-135" dirty="0"/>
              <a:t> </a:t>
            </a:r>
            <a:r>
              <a:rPr spc="-5" dirty="0"/>
              <a:t>BUILD</a:t>
            </a:r>
            <a:r>
              <a:rPr spc="-20" dirty="0"/>
              <a:t> </a:t>
            </a:r>
            <a:r>
              <a:rPr spc="-5" dirty="0"/>
              <a:t>A </a:t>
            </a:r>
            <a:r>
              <a:rPr u="none" spc="-5" dirty="0"/>
              <a:t> </a:t>
            </a:r>
            <a:r>
              <a:rPr spc="-45" dirty="0"/>
              <a:t>CHATBOT </a:t>
            </a:r>
            <a:r>
              <a:rPr dirty="0"/>
              <a:t>WITH </a:t>
            </a:r>
            <a:r>
              <a:rPr u="none" dirty="0"/>
              <a:t> </a:t>
            </a:r>
            <a:r>
              <a:rPr spc="-30" dirty="0"/>
              <a:t>ENGATI.COM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004" y="3384931"/>
            <a:ext cx="5926455" cy="1610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build a chatbot here, </a:t>
            </a:r>
            <a:r>
              <a:rPr sz="1200" spc="-10" dirty="0">
                <a:latin typeface="Arial"/>
                <a:cs typeface="Arial"/>
              </a:rPr>
              <a:t>we </a:t>
            </a:r>
            <a:r>
              <a:rPr sz="1200" dirty="0">
                <a:latin typeface="Arial"/>
                <a:cs typeface="Arial"/>
              </a:rPr>
              <a:t>need to </a:t>
            </a:r>
            <a:r>
              <a:rPr sz="1200" spc="-5" dirty="0">
                <a:latin typeface="Arial"/>
                <a:cs typeface="Arial"/>
              </a:rPr>
              <a:t>develop paths or flows. These paths are analogous  </a:t>
            </a:r>
            <a:r>
              <a:rPr sz="1200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intents. Each path symbolizes a specific set of operations </a:t>
            </a:r>
            <a:r>
              <a:rPr sz="1200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be performed </a:t>
            </a:r>
            <a:r>
              <a:rPr sz="1200" dirty="0">
                <a:latin typeface="Arial"/>
                <a:cs typeface="Arial"/>
              </a:rPr>
              <a:t>by </a:t>
            </a:r>
            <a:r>
              <a:rPr sz="1200" spc="-5" dirty="0">
                <a:latin typeface="Arial"/>
                <a:cs typeface="Arial"/>
              </a:rPr>
              <a:t>the bot.  </a:t>
            </a:r>
            <a:r>
              <a:rPr sz="1200" dirty="0">
                <a:latin typeface="Arial"/>
                <a:cs typeface="Arial"/>
              </a:rPr>
              <a:t>On </a:t>
            </a:r>
            <a:r>
              <a:rPr sz="1200" spc="-5" dirty="0">
                <a:latin typeface="Arial"/>
                <a:cs typeface="Arial"/>
              </a:rPr>
              <a:t>engati </a:t>
            </a:r>
            <a:r>
              <a:rPr sz="1200" dirty="0">
                <a:latin typeface="Arial"/>
                <a:cs typeface="Arial"/>
              </a:rPr>
              <a:t>platform, I </a:t>
            </a:r>
            <a:r>
              <a:rPr sz="1200" spc="-5" dirty="0">
                <a:latin typeface="Arial"/>
                <a:cs typeface="Arial"/>
              </a:rPr>
              <a:t>developed a </a:t>
            </a: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bot which </a:t>
            </a:r>
            <a:r>
              <a:rPr sz="1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determines the weather </a:t>
            </a: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conditions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in  any </a:t>
            </a:r>
            <a:r>
              <a:rPr sz="1200" dirty="0">
                <a:latin typeface="Arial"/>
                <a:cs typeface="Arial"/>
              </a:rPr>
              <a:t>city </a:t>
            </a:r>
            <a:r>
              <a:rPr sz="1200" spc="-5" dirty="0">
                <a:latin typeface="Arial"/>
                <a:cs typeface="Arial"/>
              </a:rPr>
              <a:t>the </a:t>
            </a:r>
            <a:r>
              <a:rPr sz="1200" dirty="0">
                <a:latin typeface="Arial"/>
                <a:cs typeface="Arial"/>
              </a:rPr>
              <a:t>user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wants.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Arial"/>
                <a:cs typeface="Arial"/>
              </a:rPr>
              <a:t>I </a:t>
            </a:r>
            <a:r>
              <a:rPr sz="1200" spc="-5" dirty="0">
                <a:latin typeface="Arial"/>
                <a:cs typeface="Arial"/>
              </a:rPr>
              <a:t>used 5 paths </a:t>
            </a:r>
            <a:r>
              <a:rPr sz="1200" dirty="0">
                <a:latin typeface="Arial"/>
                <a:cs typeface="Arial"/>
              </a:rPr>
              <a:t>for this </a:t>
            </a:r>
            <a:r>
              <a:rPr sz="1200" spc="-5" dirty="0">
                <a:latin typeface="Arial"/>
                <a:cs typeface="Arial"/>
              </a:rPr>
              <a:t>purpose and named the bot as weather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bot.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Details of </a:t>
            </a:r>
            <a:r>
              <a:rPr sz="1200" dirty="0">
                <a:latin typeface="Arial"/>
                <a:cs typeface="Arial"/>
              </a:rPr>
              <a:t>the </a:t>
            </a:r>
            <a:r>
              <a:rPr sz="1200" spc="-5" dirty="0">
                <a:latin typeface="Arial"/>
                <a:cs typeface="Arial"/>
              </a:rPr>
              <a:t>5 </a:t>
            </a:r>
            <a:r>
              <a:rPr sz="1200" dirty="0">
                <a:latin typeface="Arial"/>
                <a:cs typeface="Arial"/>
              </a:rPr>
              <a:t>paths </a:t>
            </a:r>
            <a:r>
              <a:rPr sz="1200" spc="-5" dirty="0">
                <a:latin typeface="Arial"/>
                <a:cs typeface="Arial"/>
              </a:rPr>
              <a:t>are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follows:-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926465" indent="-2286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sz="1200" spc="-5" dirty="0">
                <a:latin typeface="Arial"/>
                <a:cs typeface="Arial"/>
              </a:rPr>
              <a:t>Welcome new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user: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354" y="7782306"/>
            <a:ext cx="503047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This </a:t>
            </a:r>
            <a:r>
              <a:rPr sz="1200" spc="-5" dirty="0">
                <a:latin typeface="Arial"/>
                <a:cs typeface="Arial"/>
              </a:rPr>
              <a:t>path, as the name suggests, is </a:t>
            </a:r>
            <a:r>
              <a:rPr sz="1200" dirty="0">
                <a:latin typeface="Arial"/>
                <a:cs typeface="Arial"/>
              </a:rPr>
              <a:t>used to </a:t>
            </a:r>
            <a:r>
              <a:rPr sz="1200" spc="-5" dirty="0">
                <a:latin typeface="Arial"/>
                <a:cs typeface="Arial"/>
              </a:rPr>
              <a:t>welcome a new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user.</a:t>
            </a:r>
            <a:endParaRPr sz="1200">
              <a:latin typeface="Arial"/>
              <a:cs typeface="Arial"/>
            </a:endParaRPr>
          </a:p>
          <a:p>
            <a:pPr marL="12700" marR="26860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Arial"/>
                <a:cs typeface="Arial"/>
              </a:rPr>
              <a:t>A </a:t>
            </a:r>
            <a:r>
              <a:rPr sz="1200" spc="-5" dirty="0">
                <a:latin typeface="Arial"/>
                <a:cs typeface="Arial"/>
              </a:rPr>
              <a:t>welcome message can be written </a:t>
            </a:r>
            <a:r>
              <a:rPr sz="1200" dirty="0">
                <a:latin typeface="Arial"/>
                <a:cs typeface="Arial"/>
              </a:rPr>
              <a:t>here </a:t>
            </a:r>
            <a:r>
              <a:rPr sz="1200" spc="-5" dirty="0">
                <a:latin typeface="Arial"/>
                <a:cs typeface="Arial"/>
              </a:rPr>
              <a:t>which </a:t>
            </a:r>
            <a:r>
              <a:rPr sz="1200" spc="-10" dirty="0">
                <a:latin typeface="Arial"/>
                <a:cs typeface="Arial"/>
              </a:rPr>
              <a:t>will </a:t>
            </a:r>
            <a:r>
              <a:rPr sz="1200" spc="-5" dirty="0">
                <a:latin typeface="Arial"/>
                <a:cs typeface="Arial"/>
              </a:rPr>
              <a:t>be displayed in the  beginning.</a:t>
            </a:r>
            <a:endParaRPr sz="1200">
              <a:latin typeface="Arial"/>
              <a:cs typeface="Arial"/>
            </a:endParaRPr>
          </a:p>
          <a:p>
            <a:pPr marL="12700" marR="2603500">
              <a:lnSpc>
                <a:spcPts val="1380"/>
              </a:lnSpc>
            </a:pPr>
            <a:r>
              <a:rPr sz="1200" spc="-5" dirty="0">
                <a:latin typeface="Arial"/>
                <a:cs typeface="Arial"/>
              </a:rPr>
              <a:t>Here {{First_Name}} is </a:t>
            </a:r>
            <a:r>
              <a:rPr sz="1200" dirty="0">
                <a:latin typeface="Arial"/>
                <a:cs typeface="Arial"/>
              </a:rPr>
              <a:t>an </a:t>
            </a:r>
            <a:r>
              <a:rPr sz="1200" spc="-5" dirty="0">
                <a:latin typeface="Arial"/>
                <a:cs typeface="Arial"/>
              </a:rPr>
              <a:t>attribute </a:t>
            </a:r>
            <a:r>
              <a:rPr sz="1200" dirty="0">
                <a:latin typeface="Arial"/>
                <a:cs typeface="Arial"/>
              </a:rPr>
              <a:t>.  Its </a:t>
            </a:r>
            <a:r>
              <a:rPr sz="1200" spc="-5" dirty="0">
                <a:latin typeface="Arial"/>
                <a:cs typeface="Arial"/>
              </a:rPr>
              <a:t>value is taken from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user.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380"/>
              </a:lnSpc>
            </a:pPr>
            <a:r>
              <a:rPr sz="1200" spc="-5" dirty="0">
                <a:latin typeface="Arial"/>
                <a:cs typeface="Arial"/>
              </a:rPr>
              <a:t>The path user_details which is triggered </a:t>
            </a:r>
            <a:r>
              <a:rPr sz="1200" dirty="0">
                <a:latin typeface="Arial"/>
                <a:cs typeface="Arial"/>
              </a:rPr>
              <a:t>here </a:t>
            </a:r>
            <a:r>
              <a:rPr sz="1200" spc="-5" dirty="0">
                <a:latin typeface="Arial"/>
                <a:cs typeface="Arial"/>
              </a:rPr>
              <a:t>is explained in the upcoming  </a:t>
            </a:r>
            <a:r>
              <a:rPr sz="1200" dirty="0">
                <a:latin typeface="Arial"/>
                <a:cs typeface="Arial"/>
              </a:rPr>
              <a:t>sections.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7570" y="5073015"/>
            <a:ext cx="1819910" cy="2698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6619" y="9227184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31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7753" y="1278381"/>
            <a:ext cx="16598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2. </a:t>
            </a:r>
            <a:r>
              <a:rPr sz="1200" dirty="0">
                <a:latin typeface="Arial"/>
                <a:cs typeface="Arial"/>
              </a:rPr>
              <a:t>Greet </a:t>
            </a:r>
            <a:r>
              <a:rPr sz="1200" spc="-5" dirty="0">
                <a:latin typeface="Arial"/>
                <a:cs typeface="Arial"/>
              </a:rPr>
              <a:t>returning</a:t>
            </a:r>
            <a:r>
              <a:rPr sz="1200" spc="-16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user: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7753" y="3893946"/>
            <a:ext cx="5259070" cy="10877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41300" marR="116839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Arial"/>
                <a:cs typeface="Arial"/>
              </a:rPr>
              <a:t>Greet </a:t>
            </a:r>
            <a:r>
              <a:rPr sz="1200" spc="-5" dirty="0">
                <a:latin typeface="Arial"/>
                <a:cs typeface="Arial"/>
              </a:rPr>
              <a:t>returning </a:t>
            </a:r>
            <a:r>
              <a:rPr sz="1200" dirty="0">
                <a:latin typeface="Arial"/>
                <a:cs typeface="Arial"/>
              </a:rPr>
              <a:t>user </a:t>
            </a:r>
            <a:r>
              <a:rPr sz="1200" spc="-5" dirty="0">
                <a:latin typeface="Arial"/>
                <a:cs typeface="Arial"/>
              </a:rPr>
              <a:t>path is used </a:t>
            </a:r>
            <a:r>
              <a:rPr sz="1200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greet a user </a:t>
            </a:r>
            <a:r>
              <a:rPr sz="1200" spc="-10" dirty="0">
                <a:latin typeface="Arial"/>
                <a:cs typeface="Arial"/>
              </a:rPr>
              <a:t>who </a:t>
            </a:r>
            <a:r>
              <a:rPr sz="1200" dirty="0">
                <a:latin typeface="Arial"/>
                <a:cs typeface="Arial"/>
              </a:rPr>
              <a:t>has </a:t>
            </a:r>
            <a:r>
              <a:rPr sz="1200" spc="-5" dirty="0">
                <a:latin typeface="Arial"/>
                <a:cs typeface="Arial"/>
              </a:rPr>
              <a:t>returned to the  conversation i.e. </a:t>
            </a:r>
            <a:r>
              <a:rPr sz="1200" spc="-10" dirty="0">
                <a:latin typeface="Arial"/>
                <a:cs typeface="Arial"/>
              </a:rPr>
              <a:t>he </a:t>
            </a:r>
            <a:r>
              <a:rPr sz="1200" spc="-5" dirty="0">
                <a:latin typeface="Arial"/>
                <a:cs typeface="Arial"/>
              </a:rPr>
              <a:t>is not a new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user.</a:t>
            </a:r>
            <a:endParaRPr sz="1200">
              <a:latin typeface="Arial"/>
              <a:cs typeface="Arial"/>
            </a:endParaRPr>
          </a:p>
          <a:p>
            <a:pPr marL="241300" marR="5080">
              <a:lnSpc>
                <a:spcPts val="1380"/>
              </a:lnSpc>
            </a:pPr>
            <a:r>
              <a:rPr sz="1200" spc="-5" dirty="0">
                <a:latin typeface="Arial"/>
                <a:cs typeface="Arial"/>
              </a:rPr>
              <a:t>The path user_details which is triggered </a:t>
            </a:r>
            <a:r>
              <a:rPr sz="1200" dirty="0">
                <a:latin typeface="Arial"/>
                <a:cs typeface="Arial"/>
              </a:rPr>
              <a:t>here </a:t>
            </a:r>
            <a:r>
              <a:rPr sz="1200" spc="-5" dirty="0">
                <a:latin typeface="Arial"/>
                <a:cs typeface="Arial"/>
              </a:rPr>
              <a:t>is explained in the upcoming  </a:t>
            </a:r>
            <a:r>
              <a:rPr sz="1200" dirty="0">
                <a:latin typeface="Arial"/>
                <a:cs typeface="Arial"/>
              </a:rPr>
              <a:t>sections.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solidFill>
                  <a:srgbClr val="202020"/>
                </a:solidFill>
                <a:latin typeface="Arial"/>
                <a:cs typeface="Arial"/>
              </a:rPr>
              <a:t>3.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Default</a:t>
            </a:r>
            <a:r>
              <a:rPr sz="1200" spc="-1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Message: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7753" y="7311390"/>
            <a:ext cx="5038725" cy="1610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41300" marR="19939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This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path </a:t>
            </a:r>
            <a:r>
              <a:rPr sz="1200" spc="-10" dirty="0">
                <a:solidFill>
                  <a:srgbClr val="202020"/>
                </a:solidFill>
                <a:latin typeface="Arial"/>
                <a:cs typeface="Arial"/>
              </a:rPr>
              <a:t>will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become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active when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user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enters a value which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bot  cannot understand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or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any invalid</a:t>
            </a:r>
            <a:r>
              <a:rPr sz="1200" spc="-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value.</a:t>
            </a:r>
            <a:endParaRPr sz="1200">
              <a:latin typeface="Arial"/>
              <a:cs typeface="Arial"/>
            </a:endParaRPr>
          </a:p>
          <a:p>
            <a:pPr marL="241300" marR="5080">
              <a:lnSpc>
                <a:spcPts val="1380"/>
              </a:lnSpc>
            </a:pP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For eg :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If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user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enters “deli”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for a city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then Default Message path </a:t>
            </a:r>
            <a:r>
              <a:rPr sz="1200" spc="-10" dirty="0">
                <a:solidFill>
                  <a:srgbClr val="202020"/>
                </a:solidFill>
                <a:latin typeface="Arial"/>
                <a:cs typeface="Arial"/>
              </a:rPr>
              <a:t>will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be 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triggered.</a:t>
            </a:r>
            <a:endParaRPr sz="1200">
              <a:latin typeface="Arial"/>
              <a:cs typeface="Arial"/>
            </a:endParaRPr>
          </a:p>
          <a:p>
            <a:pPr marL="241300" marR="123825">
              <a:lnSpc>
                <a:spcPts val="1380"/>
              </a:lnSpc>
            </a:pP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I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have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linked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the Default Message path to the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main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path which </a:t>
            </a:r>
            <a:r>
              <a:rPr sz="1200" spc="-10" dirty="0">
                <a:solidFill>
                  <a:srgbClr val="202020"/>
                </a:solidFill>
                <a:latin typeface="Arial"/>
                <a:cs typeface="Arial"/>
              </a:rPr>
              <a:t>will </a:t>
            </a:r>
            <a:r>
              <a:rPr sz="1200" spc="5" dirty="0">
                <a:solidFill>
                  <a:srgbClr val="202020"/>
                </a:solidFill>
                <a:latin typeface="Arial"/>
                <a:cs typeface="Arial"/>
              </a:rPr>
              <a:t>be 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explained in coming</a:t>
            </a:r>
            <a:r>
              <a:rPr sz="1200" spc="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sections.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200" spc="-25" dirty="0">
                <a:solidFill>
                  <a:srgbClr val="202020"/>
                </a:solidFill>
                <a:latin typeface="Arial"/>
                <a:cs typeface="Arial"/>
              </a:rPr>
              <a:t>4.</a:t>
            </a:r>
            <a:r>
              <a:rPr sz="1200" spc="17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User_details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4425" y="1475358"/>
            <a:ext cx="1357629" cy="24041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93670" y="5045075"/>
            <a:ext cx="3274059" cy="22821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6619" y="9225915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456755"/>
            <a:ext cx="1713864" cy="7740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32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6354" y="1278381"/>
            <a:ext cx="484124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This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path is very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important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as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it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collects the user information (name and  mobile number) and calls the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main</a:t>
            </a:r>
            <a:r>
              <a:rPr sz="1200" spc="-1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path.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7753" y="4223130"/>
            <a:ext cx="5260340" cy="108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410"/>
              </a:lnSpc>
              <a:spcBef>
                <a:spcPts val="100"/>
              </a:spcBef>
              <a:buAutoNum type="arabicPeriod" startAt="5"/>
              <a:tabLst>
                <a:tab pos="241300" algn="l"/>
              </a:tabLst>
            </a:pP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Main</a:t>
            </a:r>
            <a:endParaRPr sz="1200">
              <a:latin typeface="Arial"/>
              <a:cs typeface="Arial"/>
            </a:endParaRPr>
          </a:p>
          <a:p>
            <a:pPr marL="2413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This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is most important path of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entire logic. External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API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is integrated to 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bot </a:t>
            </a:r>
            <a:r>
              <a:rPr sz="1200" spc="-10" dirty="0">
                <a:solidFill>
                  <a:srgbClr val="202020"/>
                </a:solidFill>
                <a:latin typeface="Arial"/>
                <a:cs typeface="Arial"/>
              </a:rPr>
              <a:t>in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this path.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I </a:t>
            </a:r>
            <a:r>
              <a:rPr sz="1200" spc="-10" dirty="0">
                <a:solidFill>
                  <a:srgbClr val="202020"/>
                </a:solidFill>
                <a:latin typeface="Arial"/>
                <a:cs typeface="Arial"/>
              </a:rPr>
              <a:t>have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made 2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API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calls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here:</a:t>
            </a:r>
            <a:endParaRPr sz="1200">
              <a:latin typeface="Arial"/>
              <a:cs typeface="Arial"/>
            </a:endParaRPr>
          </a:p>
          <a:p>
            <a:pPr marL="698500" marR="66040" lvl="1" indent="-228600">
              <a:lnSpc>
                <a:spcPts val="1380"/>
              </a:lnSpc>
              <a:buClr>
                <a:srgbClr val="202020"/>
              </a:buClr>
              <a:buAutoNum type="alphaLcParenR"/>
              <a:tabLst>
                <a:tab pos="698500" algn="l"/>
              </a:tabLst>
            </a:pP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https://www.metaweather.com/api/location/search/?query={{city_us  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er}}</a:t>
            </a:r>
            <a:r>
              <a:rPr sz="1200" spc="-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(JSON API)</a:t>
            </a:r>
            <a:endParaRPr sz="1200">
              <a:latin typeface="Arial"/>
              <a:cs typeface="Arial"/>
            </a:endParaRPr>
          </a:p>
          <a:p>
            <a:pPr marL="698500" lvl="1" indent="-228600">
              <a:lnSpc>
                <a:spcPts val="1345"/>
              </a:lnSpc>
              <a:buClr>
                <a:srgbClr val="202020"/>
              </a:buClr>
              <a:buAutoNum type="alphaLcParenR"/>
              <a:tabLst>
                <a:tab pos="6985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https://www.metaweather.com/api/location/{{city_id}}</a:t>
            </a:r>
            <a:r>
              <a:rPr sz="1200" spc="-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(JSON</a:t>
            </a:r>
            <a:r>
              <a:rPr sz="1200" spc="7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02020"/>
                </a:solidFill>
                <a:latin typeface="Arial"/>
                <a:cs typeface="Arial"/>
              </a:rPr>
              <a:t>API_1)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8553398"/>
            <a:ext cx="407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02020"/>
                </a:solidFill>
                <a:latin typeface="Arial"/>
                <a:cs typeface="Arial"/>
              </a:rPr>
              <a:t>Details </a:t>
            </a:r>
            <a:r>
              <a:rPr sz="2400" dirty="0">
                <a:solidFill>
                  <a:srgbClr val="202020"/>
                </a:solidFill>
                <a:latin typeface="Arial"/>
                <a:cs typeface="Arial"/>
              </a:rPr>
              <a:t>of JSON API</a:t>
            </a:r>
            <a:r>
              <a:rPr sz="2400" spc="-7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020"/>
                </a:solidFill>
                <a:latin typeface="Arial"/>
                <a:cs typeface="Arial"/>
              </a:rPr>
              <a:t>PLUGIN: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59610" y="1844039"/>
            <a:ext cx="4766945" cy="24002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6900" y="5536565"/>
            <a:ext cx="4961255" cy="28897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6619" y="9225915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33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01014"/>
            <a:ext cx="5947410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0820">
              <a:lnSpc>
                <a:spcPts val="2150"/>
              </a:lnSpc>
              <a:spcBef>
                <a:spcPts val="100"/>
              </a:spcBef>
            </a:pPr>
            <a:r>
              <a:rPr sz="1800" b="1" spc="-235" dirty="0">
                <a:latin typeface="Arial"/>
                <a:cs typeface="Arial"/>
              </a:rPr>
              <a:t>PROJECT: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229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  <a:p>
            <a:pPr marL="12700" marR="92075" algn="just">
              <a:lnSpc>
                <a:spcPts val="1380"/>
              </a:lnSpc>
              <a:spcBef>
                <a:spcPts val="80"/>
              </a:spcBef>
            </a:pP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JSON API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Plugin provides flexibility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for the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bot admin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to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make HTTP requests,  parse and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store the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responses into attributes and use the data across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platform.  You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can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choose between GET, PUT and POST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to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make the HTTP</a:t>
            </a:r>
            <a:r>
              <a:rPr sz="1200" spc="5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requests.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477639"/>
            <a:ext cx="5899150" cy="3805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PARAMS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5095">
              <a:lnSpc>
                <a:spcPct val="95900"/>
              </a:lnSpc>
            </a:pP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Click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Params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tab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to open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data editor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for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URL parameters.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When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you add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key- 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value pairs, the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JSON API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Plugin automatically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combines it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with the URL while 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making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the API call.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rgbClr val="202020"/>
                </a:solidFill>
                <a:latin typeface="Arial"/>
                <a:cs typeface="Arial"/>
              </a:rPr>
              <a:t>HEADERS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42545">
              <a:lnSpc>
                <a:spcPct val="96300"/>
              </a:lnSpc>
            </a:pP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Clicking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on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the Headers tab </a:t>
            </a:r>
            <a:r>
              <a:rPr sz="1200" spc="-10" dirty="0">
                <a:solidFill>
                  <a:srgbClr val="424242"/>
                </a:solidFill>
                <a:latin typeface="Arial"/>
                <a:cs typeface="Arial"/>
              </a:rPr>
              <a:t>shows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the headers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key-value editor. </a:t>
            </a:r>
            <a:r>
              <a:rPr sz="1200" spc="-10" dirty="0">
                <a:solidFill>
                  <a:srgbClr val="424242"/>
                </a:solidFill>
                <a:latin typeface="Arial"/>
                <a:cs typeface="Arial"/>
              </a:rPr>
              <a:t>You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can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add your 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API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request headers here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for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all method types.You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can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pass authentication tokens,  app secret, passwords and other credentials as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per </a:t>
            </a:r>
            <a:r>
              <a:rPr sz="1200" spc="-10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requirements of the end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-</a:t>
            </a:r>
            <a:r>
              <a:rPr sz="1200" spc="18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point.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STORING API</a:t>
            </a:r>
            <a:r>
              <a:rPr sz="12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VALUES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To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store values into </a:t>
            </a:r>
            <a:r>
              <a:rPr sz="1200" spc="15" dirty="0">
                <a:solidFill>
                  <a:srgbClr val="424242"/>
                </a:solidFill>
                <a:latin typeface="Arial"/>
                <a:cs typeface="Arial"/>
              </a:rPr>
              <a:t>attributes </a:t>
            </a: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from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responses </a:t>
            </a: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from</a:t>
            </a:r>
            <a:r>
              <a:rPr sz="1200" spc="15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APIs:</a:t>
            </a:r>
            <a:endParaRPr sz="1200">
              <a:latin typeface="Arial"/>
              <a:cs typeface="Arial"/>
            </a:endParaRPr>
          </a:p>
          <a:p>
            <a:pPr marL="12700" indent="248285">
              <a:lnSpc>
                <a:spcPct val="100000"/>
              </a:lnSpc>
              <a:spcBef>
                <a:spcPts val="365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Click on the key </a:t>
            </a: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from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response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whose value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you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want to use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in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15" dirty="0">
                <a:solidFill>
                  <a:srgbClr val="424242"/>
                </a:solidFill>
                <a:latin typeface="Arial"/>
                <a:cs typeface="Arial"/>
              </a:rPr>
              <a:t>flow</a:t>
            </a:r>
            <a:endParaRPr sz="1200">
              <a:latin typeface="Arial"/>
              <a:cs typeface="Arial"/>
            </a:endParaRPr>
          </a:p>
          <a:p>
            <a:pPr marL="12700" indent="248285">
              <a:lnSpc>
                <a:spcPct val="100000"/>
              </a:lnSpc>
              <a:spcBef>
                <a:spcPts val="730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The attribute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is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created right </a:t>
            </a: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below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response</a:t>
            </a:r>
            <a:r>
              <a:rPr sz="1200" spc="14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box</a:t>
            </a:r>
            <a:endParaRPr sz="1200">
              <a:latin typeface="Arial"/>
              <a:cs typeface="Arial"/>
            </a:endParaRPr>
          </a:p>
          <a:p>
            <a:pPr marL="12700" marR="1024890" indent="248285">
              <a:lnSpc>
                <a:spcPts val="2240"/>
              </a:lnSpc>
              <a:spcBef>
                <a:spcPts val="155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You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can change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the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name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of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these </a:t>
            </a:r>
            <a:r>
              <a:rPr sz="1200" spc="10" dirty="0">
                <a:solidFill>
                  <a:srgbClr val="424242"/>
                </a:solidFill>
                <a:latin typeface="Arial"/>
                <a:cs typeface="Arial"/>
              </a:rPr>
              <a:t>attributes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as per your desire  </a:t>
            </a:r>
            <a:r>
              <a:rPr sz="1200" spc="15" dirty="0">
                <a:solidFill>
                  <a:srgbClr val="424242"/>
                </a:solidFill>
                <a:latin typeface="Arial"/>
                <a:cs typeface="Arial"/>
              </a:rPr>
              <a:t>Thereafter,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you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can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use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these </a:t>
            </a:r>
            <a:r>
              <a:rPr sz="1200" spc="15" dirty="0">
                <a:solidFill>
                  <a:srgbClr val="424242"/>
                </a:solidFill>
                <a:latin typeface="Arial"/>
                <a:cs typeface="Arial"/>
              </a:rPr>
              <a:t>attributes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anywhere </a:t>
            </a:r>
            <a:r>
              <a:rPr sz="1200" spc="-5" dirty="0">
                <a:solidFill>
                  <a:srgbClr val="424242"/>
                </a:solidFill>
                <a:latin typeface="Arial"/>
                <a:cs typeface="Arial"/>
              </a:rPr>
              <a:t>in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the</a:t>
            </a:r>
            <a:r>
              <a:rPr sz="1200" spc="25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424242"/>
                </a:solidFill>
                <a:latin typeface="Arial"/>
                <a:cs typeface="Arial"/>
              </a:rPr>
              <a:t>flow.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445008"/>
            <a:ext cx="1711198" cy="772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050" y="1995804"/>
            <a:ext cx="1906904" cy="23552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6619" y="9044305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34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1001014"/>
            <a:ext cx="1938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35" dirty="0">
                <a:latin typeface="Arial"/>
                <a:cs typeface="Arial"/>
              </a:rPr>
              <a:t>PROJECT: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229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7419" y="1250950"/>
            <a:ext cx="2338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C++</a:t>
            </a:r>
            <a:r>
              <a:rPr spc="-80" dirty="0"/>
              <a:t> </a:t>
            </a:r>
            <a:r>
              <a:rPr dirty="0"/>
              <a:t>CODE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004" y="1973326"/>
            <a:ext cx="5629910" cy="59093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z="1200" spc="-5" dirty="0">
                <a:latin typeface="Arial"/>
                <a:cs typeface="Arial"/>
              </a:rPr>
              <a:t>Following is the C++ </a:t>
            </a:r>
            <a:r>
              <a:rPr sz="1200" dirty="0">
                <a:latin typeface="Arial"/>
                <a:cs typeface="Arial"/>
              </a:rPr>
              <a:t>code for </a:t>
            </a:r>
            <a:r>
              <a:rPr sz="1200" spc="-5" dirty="0">
                <a:latin typeface="Arial"/>
                <a:cs typeface="Arial"/>
              </a:rPr>
              <a:t>implementing basic functionalities of a conversational  </a:t>
            </a:r>
            <a:r>
              <a:rPr sz="1200" dirty="0">
                <a:latin typeface="Arial"/>
                <a:cs typeface="Arial"/>
              </a:rPr>
              <a:t>Chat</a:t>
            </a:r>
            <a:r>
              <a:rPr sz="1200" spc="-5" dirty="0">
                <a:latin typeface="Arial"/>
                <a:cs typeface="Arial"/>
              </a:rPr>
              <a:t> Bot.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 marL="12700" marR="4034154">
              <a:lnSpc>
                <a:spcPct val="97300"/>
              </a:lnSpc>
            </a:pPr>
            <a:r>
              <a:rPr sz="1200" spc="75" dirty="0">
                <a:solidFill>
                  <a:srgbClr val="808080"/>
                </a:solidFill>
                <a:latin typeface="Arial"/>
                <a:cs typeface="Arial"/>
              </a:rPr>
              <a:t>#include</a:t>
            </a:r>
            <a:r>
              <a:rPr sz="1200" spc="1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85" dirty="0">
                <a:solidFill>
                  <a:srgbClr val="A11515"/>
                </a:solidFill>
                <a:latin typeface="Arial"/>
                <a:cs typeface="Arial"/>
              </a:rPr>
              <a:t>&lt;iostream&gt;  </a:t>
            </a:r>
            <a:r>
              <a:rPr sz="1200" spc="75" dirty="0">
                <a:solidFill>
                  <a:srgbClr val="808080"/>
                </a:solidFill>
                <a:latin typeface="Arial"/>
                <a:cs typeface="Arial"/>
              </a:rPr>
              <a:t>#include </a:t>
            </a:r>
            <a:r>
              <a:rPr sz="1200" spc="75" dirty="0">
                <a:solidFill>
                  <a:srgbClr val="A11515"/>
                </a:solidFill>
                <a:latin typeface="Arial"/>
                <a:cs typeface="Arial"/>
              </a:rPr>
              <a:t>&lt;string&gt;  </a:t>
            </a:r>
            <a:r>
              <a:rPr sz="1200" spc="75" dirty="0">
                <a:solidFill>
                  <a:srgbClr val="808080"/>
                </a:solidFill>
                <a:latin typeface="Arial"/>
                <a:cs typeface="Arial"/>
              </a:rPr>
              <a:t>#include </a:t>
            </a:r>
            <a:r>
              <a:rPr sz="1200" spc="80" dirty="0">
                <a:solidFill>
                  <a:srgbClr val="A11515"/>
                </a:solidFill>
                <a:latin typeface="Arial"/>
                <a:cs typeface="Arial"/>
              </a:rPr>
              <a:t>&lt;vector&gt;  </a:t>
            </a:r>
            <a:r>
              <a:rPr sz="1200" spc="75" dirty="0">
                <a:solidFill>
                  <a:srgbClr val="808080"/>
                </a:solidFill>
                <a:latin typeface="Arial"/>
                <a:cs typeface="Arial"/>
              </a:rPr>
              <a:t>#include</a:t>
            </a:r>
            <a:r>
              <a:rPr sz="1200" spc="5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85" dirty="0">
                <a:solidFill>
                  <a:srgbClr val="A11515"/>
                </a:solidFill>
                <a:latin typeface="Arial"/>
                <a:cs typeface="Arial"/>
              </a:rPr>
              <a:t>&lt;ctime&gt;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80" dirty="0">
                <a:solidFill>
                  <a:srgbClr val="0000FF"/>
                </a:solidFill>
                <a:latin typeface="Arial"/>
                <a:cs typeface="Arial"/>
              </a:rPr>
              <a:t>const </a:t>
            </a:r>
            <a:r>
              <a:rPr sz="1200" spc="140" dirty="0">
                <a:solidFill>
                  <a:srgbClr val="0000FF"/>
                </a:solidFill>
                <a:latin typeface="Arial"/>
                <a:cs typeface="Arial"/>
              </a:rPr>
              <a:t>int </a:t>
            </a:r>
            <a:r>
              <a:rPr sz="1200" spc="-5" dirty="0">
                <a:latin typeface="Arial"/>
                <a:cs typeface="Arial"/>
              </a:rPr>
              <a:t>MAX_RESP </a:t>
            </a:r>
            <a:r>
              <a:rPr sz="1200" spc="95" dirty="0">
                <a:latin typeface="Arial"/>
                <a:cs typeface="Arial"/>
              </a:rPr>
              <a:t>=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3;</a:t>
            </a:r>
            <a:endParaRPr sz="1200">
              <a:latin typeface="Arial"/>
              <a:cs typeface="Arial"/>
            </a:endParaRPr>
          </a:p>
          <a:p>
            <a:pPr marL="12700" marR="2207260">
              <a:lnSpc>
                <a:spcPct val="194200"/>
              </a:lnSpc>
              <a:spcBef>
                <a:spcPts val="10"/>
              </a:spcBef>
            </a:pPr>
            <a:r>
              <a:rPr sz="1200" spc="165" dirty="0">
                <a:solidFill>
                  <a:srgbClr val="0000FF"/>
                </a:solidFill>
                <a:latin typeface="Arial"/>
                <a:cs typeface="Arial"/>
              </a:rPr>
              <a:t>typedef </a:t>
            </a:r>
            <a:r>
              <a:rPr sz="1200" spc="150" dirty="0">
                <a:latin typeface="Arial"/>
                <a:cs typeface="Arial"/>
              </a:rPr>
              <a:t>std::</a:t>
            </a:r>
            <a:r>
              <a:rPr sz="1200" spc="150" dirty="0">
                <a:solidFill>
                  <a:srgbClr val="2B91AD"/>
                </a:solidFill>
                <a:latin typeface="Arial"/>
                <a:cs typeface="Arial"/>
              </a:rPr>
              <a:t>vector</a:t>
            </a:r>
            <a:r>
              <a:rPr sz="1200" spc="150" dirty="0">
                <a:latin typeface="Arial"/>
                <a:cs typeface="Arial"/>
              </a:rPr>
              <a:t>&lt;std::</a:t>
            </a:r>
            <a:r>
              <a:rPr sz="1200" spc="150" dirty="0">
                <a:solidFill>
                  <a:srgbClr val="2B91AD"/>
                </a:solidFill>
                <a:latin typeface="Arial"/>
                <a:cs typeface="Arial"/>
              </a:rPr>
              <a:t>string</a:t>
            </a:r>
            <a:r>
              <a:rPr sz="1200" spc="150" dirty="0">
                <a:latin typeface="Arial"/>
                <a:cs typeface="Arial"/>
              </a:rPr>
              <a:t>&gt;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40" dirty="0">
                <a:solidFill>
                  <a:srgbClr val="2B91AD"/>
                </a:solidFill>
                <a:latin typeface="Arial"/>
                <a:cs typeface="Arial"/>
              </a:rPr>
              <a:t>vstring</a:t>
            </a:r>
            <a:r>
              <a:rPr sz="1200" spc="140" dirty="0">
                <a:latin typeface="Arial"/>
                <a:cs typeface="Arial"/>
              </a:rPr>
              <a:t>;  </a:t>
            </a:r>
            <a:r>
              <a:rPr sz="1200" spc="145" dirty="0">
                <a:solidFill>
                  <a:srgbClr val="2B91AD"/>
                </a:solidFill>
                <a:latin typeface="Arial"/>
                <a:cs typeface="Arial"/>
              </a:rPr>
              <a:t>vstring </a:t>
            </a:r>
            <a:r>
              <a:rPr sz="1200" spc="155" dirty="0">
                <a:latin typeface="Arial"/>
                <a:cs typeface="Arial"/>
              </a:rPr>
              <a:t>find_match(std::</a:t>
            </a:r>
            <a:r>
              <a:rPr sz="1200" spc="155" dirty="0">
                <a:solidFill>
                  <a:srgbClr val="2B91AD"/>
                </a:solidFill>
                <a:latin typeface="Arial"/>
                <a:cs typeface="Arial"/>
              </a:rPr>
              <a:t>string</a:t>
            </a:r>
            <a:r>
              <a:rPr sz="1200" spc="35" dirty="0">
                <a:solidFill>
                  <a:srgbClr val="2B91AD"/>
                </a:solidFill>
                <a:latin typeface="Arial"/>
                <a:cs typeface="Arial"/>
              </a:rPr>
              <a:t> </a:t>
            </a:r>
            <a:r>
              <a:rPr sz="1200" spc="140" dirty="0">
                <a:solidFill>
                  <a:srgbClr val="808080"/>
                </a:solidFill>
                <a:latin typeface="Arial"/>
                <a:cs typeface="Arial"/>
              </a:rPr>
              <a:t>input</a:t>
            </a:r>
            <a:r>
              <a:rPr sz="1200" spc="140" dirty="0">
                <a:latin typeface="Arial"/>
                <a:cs typeface="Arial"/>
              </a:rPr>
              <a:t>);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sz="1200" spc="130" dirty="0">
                <a:solidFill>
                  <a:srgbClr val="0000FF"/>
                </a:solidFill>
                <a:latin typeface="Arial"/>
                <a:cs typeface="Arial"/>
              </a:rPr>
              <a:t>void </a:t>
            </a:r>
            <a:r>
              <a:rPr sz="1200" spc="140" dirty="0">
                <a:latin typeface="Arial"/>
                <a:cs typeface="Arial"/>
              </a:rPr>
              <a:t>copy(</a:t>
            </a:r>
            <a:r>
              <a:rPr sz="1200" spc="140" dirty="0">
                <a:solidFill>
                  <a:srgbClr val="0000FF"/>
                </a:solidFill>
                <a:latin typeface="Arial"/>
                <a:cs typeface="Arial"/>
              </a:rPr>
              <a:t>const </a:t>
            </a:r>
            <a:r>
              <a:rPr sz="1200" spc="135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1200" spc="135" dirty="0">
                <a:latin typeface="Arial"/>
                <a:cs typeface="Arial"/>
              </a:rPr>
              <a:t>* </a:t>
            </a:r>
            <a:r>
              <a:rPr sz="1200" spc="160" dirty="0">
                <a:solidFill>
                  <a:srgbClr val="808080"/>
                </a:solidFill>
                <a:latin typeface="Arial"/>
                <a:cs typeface="Arial"/>
              </a:rPr>
              <a:t>array</a:t>
            </a:r>
            <a:r>
              <a:rPr sz="1200" spc="160" dirty="0">
                <a:latin typeface="Arial"/>
                <a:cs typeface="Arial"/>
              </a:rPr>
              <a:t>[], </a:t>
            </a:r>
            <a:r>
              <a:rPr sz="1200" spc="130" dirty="0">
                <a:solidFill>
                  <a:srgbClr val="2B91AD"/>
                </a:solidFill>
                <a:latin typeface="Arial"/>
                <a:cs typeface="Arial"/>
              </a:rPr>
              <a:t>vstring</a:t>
            </a:r>
            <a:r>
              <a:rPr sz="1200" spc="130" dirty="0">
                <a:latin typeface="Arial"/>
                <a:cs typeface="Arial"/>
              </a:rPr>
              <a:t>&amp;</a:t>
            </a:r>
            <a:r>
              <a:rPr sz="1200" spc="-160" dirty="0">
                <a:latin typeface="Arial"/>
                <a:cs typeface="Arial"/>
              </a:rPr>
              <a:t> </a:t>
            </a:r>
            <a:r>
              <a:rPr sz="1200" spc="155" dirty="0">
                <a:solidFill>
                  <a:srgbClr val="808080"/>
                </a:solidFill>
                <a:latin typeface="Arial"/>
                <a:cs typeface="Arial"/>
              </a:rPr>
              <a:t>v</a:t>
            </a:r>
            <a:r>
              <a:rPr sz="1200" spc="155" dirty="0">
                <a:latin typeface="Arial"/>
                <a:cs typeface="Arial"/>
              </a:rPr>
              <a:t>);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20"/>
              </a:lnSpc>
            </a:pPr>
            <a:r>
              <a:rPr sz="1200" spc="190" dirty="0">
                <a:solidFill>
                  <a:srgbClr val="0000FF"/>
                </a:solidFill>
                <a:latin typeface="Arial"/>
                <a:cs typeface="Arial"/>
              </a:rPr>
              <a:t>typedef </a:t>
            </a:r>
            <a:r>
              <a:rPr sz="1200" spc="165" dirty="0">
                <a:solidFill>
                  <a:srgbClr val="0000FF"/>
                </a:solidFill>
                <a:latin typeface="Arial"/>
                <a:cs typeface="Arial"/>
              </a:rPr>
              <a:t>struct</a:t>
            </a:r>
            <a:r>
              <a:rPr sz="1200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35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05"/>
              </a:lnSpc>
            </a:pPr>
            <a:r>
              <a:rPr sz="1200" spc="135" dirty="0">
                <a:solidFill>
                  <a:srgbClr val="0000FF"/>
                </a:solidFill>
                <a:latin typeface="Arial"/>
                <a:cs typeface="Arial"/>
              </a:rPr>
              <a:t>const char</a:t>
            </a:r>
            <a:r>
              <a:rPr sz="1200" spc="135" dirty="0">
                <a:latin typeface="Arial"/>
                <a:cs typeface="Arial"/>
              </a:rPr>
              <a:t>*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input;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10"/>
              </a:lnSpc>
            </a:pPr>
            <a:r>
              <a:rPr sz="1200" spc="50" dirty="0">
                <a:solidFill>
                  <a:srgbClr val="0000FF"/>
                </a:solidFill>
                <a:latin typeface="Arial"/>
                <a:cs typeface="Arial"/>
              </a:rPr>
              <a:t>const char</a:t>
            </a:r>
            <a:r>
              <a:rPr sz="1200" spc="50" dirty="0">
                <a:latin typeface="Arial"/>
                <a:cs typeface="Arial"/>
              </a:rPr>
              <a:t>*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responses[MAX_RESP];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sz="1200" spc="175" dirty="0">
                <a:latin typeface="Arial"/>
                <a:cs typeface="Arial"/>
              </a:rPr>
              <a:t>}</a:t>
            </a:r>
            <a:r>
              <a:rPr sz="1200" spc="175" dirty="0">
                <a:solidFill>
                  <a:srgbClr val="2B91AD"/>
                </a:solidFill>
                <a:latin typeface="Arial"/>
                <a:cs typeface="Arial"/>
              </a:rPr>
              <a:t>record</a:t>
            </a:r>
            <a:r>
              <a:rPr sz="1200" spc="175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 marL="12700" marR="2956560">
              <a:lnSpc>
                <a:spcPts val="1390"/>
              </a:lnSpc>
              <a:spcBef>
                <a:spcPts val="75"/>
              </a:spcBef>
            </a:pPr>
            <a:r>
              <a:rPr sz="1200" spc="165" dirty="0">
                <a:solidFill>
                  <a:srgbClr val="008000"/>
                </a:solidFill>
                <a:latin typeface="Arial"/>
                <a:cs typeface="Arial"/>
              </a:rPr>
              <a:t>//char* </a:t>
            </a:r>
            <a:r>
              <a:rPr sz="1200" dirty="0">
                <a:solidFill>
                  <a:srgbClr val="008000"/>
                </a:solidFill>
                <a:latin typeface="Arial"/>
                <a:cs typeface="Arial"/>
              </a:rPr>
              <a:t>x = </a:t>
            </a:r>
            <a:r>
              <a:rPr sz="1200" spc="-5" dirty="0">
                <a:solidFill>
                  <a:srgbClr val="008000"/>
                </a:solidFill>
                <a:latin typeface="Arial"/>
                <a:cs typeface="Arial"/>
              </a:rPr>
              <a:t>"WHAT IS YOUR</a:t>
            </a:r>
            <a:r>
              <a:rPr sz="1200" spc="-7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8000"/>
                </a:solidFill>
                <a:latin typeface="Arial"/>
                <a:cs typeface="Arial"/>
              </a:rPr>
              <a:t>NAME";  </a:t>
            </a:r>
            <a:r>
              <a:rPr sz="1200" spc="-5" dirty="0">
                <a:solidFill>
                  <a:srgbClr val="2B91AD"/>
                </a:solidFill>
                <a:latin typeface="Arial"/>
                <a:cs typeface="Arial"/>
              </a:rPr>
              <a:t>record </a:t>
            </a:r>
            <a:r>
              <a:rPr sz="1200" spc="-5" dirty="0">
                <a:latin typeface="Arial"/>
                <a:cs typeface="Arial"/>
              </a:rPr>
              <a:t>KnowledgeBase[]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135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340"/>
              </a:lnSpc>
            </a:pPr>
            <a:r>
              <a:rPr sz="1200" spc="-80" dirty="0">
                <a:latin typeface="Arial"/>
                <a:cs typeface="Arial"/>
              </a:rPr>
              <a:t>{</a:t>
            </a:r>
            <a:r>
              <a:rPr sz="1200" spc="-80" dirty="0">
                <a:solidFill>
                  <a:srgbClr val="A11515"/>
                </a:solidFill>
                <a:latin typeface="Arial"/>
                <a:cs typeface="Arial"/>
              </a:rPr>
              <a:t>"WHAT </a:t>
            </a:r>
            <a:r>
              <a:rPr sz="1200" spc="90" dirty="0">
                <a:solidFill>
                  <a:srgbClr val="A11515"/>
                </a:solidFill>
                <a:latin typeface="Arial"/>
                <a:cs typeface="Arial"/>
              </a:rPr>
              <a:t>IS </a:t>
            </a:r>
            <a:r>
              <a:rPr sz="1200" spc="-215" dirty="0">
                <a:solidFill>
                  <a:srgbClr val="A11515"/>
                </a:solidFill>
                <a:latin typeface="Arial"/>
                <a:cs typeface="Arial"/>
              </a:rPr>
              <a:t>YOUR</a:t>
            </a:r>
            <a:r>
              <a:rPr sz="1200" spc="-19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A11515"/>
                </a:solidFill>
                <a:latin typeface="Arial"/>
                <a:cs typeface="Arial"/>
              </a:rPr>
              <a:t>NAME"</a:t>
            </a:r>
            <a:r>
              <a:rPr sz="1200" spc="-6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15"/>
              </a:lnSpc>
            </a:pPr>
            <a:r>
              <a:rPr sz="1200" spc="-10" dirty="0">
                <a:latin typeface="Arial"/>
                <a:cs typeface="Arial"/>
              </a:rPr>
              <a:t>{</a:t>
            </a:r>
            <a:r>
              <a:rPr sz="1200" spc="-10" dirty="0">
                <a:solidFill>
                  <a:srgbClr val="A11515"/>
                </a:solidFill>
                <a:latin typeface="Arial"/>
                <a:cs typeface="Arial"/>
              </a:rPr>
              <a:t>"MY </a:t>
            </a:r>
            <a:r>
              <a:rPr sz="1200" spc="-215" dirty="0">
                <a:solidFill>
                  <a:srgbClr val="A11515"/>
                </a:solidFill>
                <a:latin typeface="Arial"/>
                <a:cs typeface="Arial"/>
              </a:rPr>
              <a:t>NAME </a:t>
            </a:r>
            <a:r>
              <a:rPr sz="1200" spc="85" dirty="0">
                <a:solidFill>
                  <a:srgbClr val="A11515"/>
                </a:solidFill>
                <a:latin typeface="Arial"/>
                <a:cs typeface="Arial"/>
              </a:rPr>
              <a:t>IS</a:t>
            </a:r>
            <a:r>
              <a:rPr sz="1200" spc="28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A11515"/>
                </a:solidFill>
                <a:latin typeface="Arial"/>
                <a:cs typeface="Arial"/>
              </a:rPr>
              <a:t>CHATTERBOT2."</a:t>
            </a:r>
            <a:r>
              <a:rPr sz="1200" spc="-5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 marR="2140585">
              <a:lnSpc>
                <a:spcPts val="1370"/>
              </a:lnSpc>
              <a:spcBef>
                <a:spcPts val="90"/>
              </a:spcBef>
            </a:pPr>
            <a:r>
              <a:rPr sz="1200" spc="-105" dirty="0">
                <a:solidFill>
                  <a:srgbClr val="A11515"/>
                </a:solidFill>
                <a:latin typeface="Arial"/>
                <a:cs typeface="Arial"/>
              </a:rPr>
              <a:t>"YOU </a:t>
            </a:r>
            <a:r>
              <a:rPr sz="1200" spc="-190" dirty="0">
                <a:solidFill>
                  <a:srgbClr val="A11515"/>
                </a:solidFill>
                <a:latin typeface="Arial"/>
                <a:cs typeface="Arial"/>
              </a:rPr>
              <a:t>CAN </a:t>
            </a:r>
            <a:r>
              <a:rPr sz="1200" spc="-105" dirty="0">
                <a:solidFill>
                  <a:srgbClr val="A11515"/>
                </a:solidFill>
                <a:latin typeface="Arial"/>
                <a:cs typeface="Arial"/>
              </a:rPr>
              <a:t>CALL </a:t>
            </a:r>
            <a:r>
              <a:rPr sz="1200" spc="-245" dirty="0">
                <a:solidFill>
                  <a:srgbClr val="A11515"/>
                </a:solidFill>
                <a:latin typeface="Arial"/>
                <a:cs typeface="Arial"/>
              </a:rPr>
              <a:t>ME </a:t>
            </a:r>
            <a:r>
              <a:rPr sz="1200" spc="-55" dirty="0">
                <a:solidFill>
                  <a:srgbClr val="A11515"/>
                </a:solidFill>
                <a:latin typeface="Arial"/>
                <a:cs typeface="Arial"/>
              </a:rPr>
              <a:t>CHATTERBOT2."</a:t>
            </a:r>
            <a:r>
              <a:rPr sz="1200" spc="-55" dirty="0">
                <a:latin typeface="Arial"/>
                <a:cs typeface="Arial"/>
              </a:rPr>
              <a:t>,  </a:t>
            </a:r>
            <a:r>
              <a:rPr sz="1200" spc="-90" dirty="0">
                <a:solidFill>
                  <a:srgbClr val="A11515"/>
                </a:solidFill>
                <a:latin typeface="Arial"/>
                <a:cs typeface="Arial"/>
              </a:rPr>
              <a:t>"WHY </a:t>
            </a:r>
            <a:r>
              <a:rPr sz="1200" spc="-100" dirty="0">
                <a:solidFill>
                  <a:srgbClr val="A11515"/>
                </a:solidFill>
                <a:latin typeface="Arial"/>
                <a:cs typeface="Arial"/>
              </a:rPr>
              <a:t>DO </a:t>
            </a:r>
            <a:r>
              <a:rPr sz="1200" spc="-95" dirty="0">
                <a:solidFill>
                  <a:srgbClr val="A11515"/>
                </a:solidFill>
                <a:latin typeface="Arial"/>
                <a:cs typeface="Arial"/>
              </a:rPr>
              <a:t>YOU </a:t>
            </a:r>
            <a:r>
              <a:rPr sz="1200" spc="-100" dirty="0">
                <a:solidFill>
                  <a:srgbClr val="A11515"/>
                </a:solidFill>
                <a:latin typeface="Arial"/>
                <a:cs typeface="Arial"/>
              </a:rPr>
              <a:t>WANT </a:t>
            </a:r>
            <a:r>
              <a:rPr sz="1200" spc="-95" dirty="0">
                <a:solidFill>
                  <a:srgbClr val="A11515"/>
                </a:solidFill>
                <a:latin typeface="Arial"/>
                <a:cs typeface="Arial"/>
              </a:rPr>
              <a:t>TO </a:t>
            </a:r>
            <a:r>
              <a:rPr sz="1200" spc="-100" dirty="0">
                <a:solidFill>
                  <a:srgbClr val="A11515"/>
                </a:solidFill>
                <a:latin typeface="Arial"/>
                <a:cs typeface="Arial"/>
              </a:rPr>
              <a:t>KNOW MY</a:t>
            </a:r>
            <a:r>
              <a:rPr sz="1200" spc="-9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A11515"/>
                </a:solidFill>
                <a:latin typeface="Arial"/>
                <a:cs typeface="Arial"/>
              </a:rPr>
              <a:t>NAME?"</a:t>
            </a:r>
            <a:r>
              <a:rPr sz="1200" spc="-75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390"/>
              </a:lnSpc>
            </a:pPr>
            <a:r>
              <a:rPr sz="1200" spc="290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ts val="1420"/>
              </a:lnSpc>
            </a:pPr>
            <a:r>
              <a:rPr sz="1200" spc="204" dirty="0">
                <a:latin typeface="Arial"/>
                <a:cs typeface="Arial"/>
              </a:rPr>
              <a:t>{</a:t>
            </a:r>
            <a:r>
              <a:rPr sz="1200" spc="204" dirty="0">
                <a:solidFill>
                  <a:srgbClr val="A11515"/>
                </a:solidFill>
                <a:latin typeface="Arial"/>
                <a:cs typeface="Arial"/>
              </a:rPr>
              <a:t>"HI"</a:t>
            </a:r>
            <a:r>
              <a:rPr sz="1200" spc="204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10"/>
              </a:lnSpc>
            </a:pPr>
            <a:r>
              <a:rPr sz="1200" spc="145" dirty="0">
                <a:latin typeface="Arial"/>
                <a:cs typeface="Arial"/>
              </a:rPr>
              <a:t>{</a:t>
            </a:r>
            <a:r>
              <a:rPr sz="1200" spc="145" dirty="0">
                <a:solidFill>
                  <a:srgbClr val="A11515"/>
                </a:solidFill>
                <a:latin typeface="Arial"/>
                <a:cs typeface="Arial"/>
              </a:rPr>
              <a:t>"HI</a:t>
            </a:r>
            <a:r>
              <a:rPr sz="1200" spc="31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A11515"/>
                </a:solidFill>
                <a:latin typeface="Arial"/>
                <a:cs typeface="Arial"/>
              </a:rPr>
              <a:t>THERE!"</a:t>
            </a:r>
            <a:r>
              <a:rPr sz="1200" spc="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>
              <a:lnSpc>
                <a:spcPts val="1420"/>
              </a:lnSpc>
            </a:pPr>
            <a:r>
              <a:rPr sz="1200" spc="-195" dirty="0">
                <a:solidFill>
                  <a:srgbClr val="A11515"/>
                </a:solidFill>
                <a:latin typeface="Arial"/>
                <a:cs typeface="Arial"/>
              </a:rPr>
              <a:t>"HOW </a:t>
            </a:r>
            <a:r>
              <a:rPr sz="1200" spc="-170" dirty="0">
                <a:solidFill>
                  <a:srgbClr val="A11515"/>
                </a:solidFill>
                <a:latin typeface="Arial"/>
                <a:cs typeface="Arial"/>
              </a:rPr>
              <a:t>ARE</a:t>
            </a:r>
            <a:r>
              <a:rPr sz="1200" spc="-13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A11515"/>
                </a:solidFill>
                <a:latin typeface="Arial"/>
                <a:cs typeface="Arial"/>
              </a:rPr>
              <a:t>YOU?"</a:t>
            </a:r>
            <a:r>
              <a:rPr sz="1200" spc="-1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>
              <a:lnSpc>
                <a:spcPts val="1410"/>
              </a:lnSpc>
            </a:pPr>
            <a:r>
              <a:rPr sz="1200" spc="204" dirty="0">
                <a:solidFill>
                  <a:srgbClr val="A11515"/>
                </a:solidFill>
                <a:latin typeface="Arial"/>
                <a:cs typeface="Arial"/>
              </a:rPr>
              <a:t>"HI!"</a:t>
            </a:r>
            <a:r>
              <a:rPr sz="1200" spc="20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20"/>
              </a:lnSpc>
            </a:pPr>
            <a:r>
              <a:rPr sz="1200" spc="290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7996" y="8564117"/>
            <a:ext cx="716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DOING</a:t>
            </a:r>
            <a:r>
              <a:rPr sz="1200" spc="5" dirty="0">
                <a:solidFill>
                  <a:srgbClr val="A11515"/>
                </a:solidFill>
                <a:latin typeface="Arial"/>
                <a:cs typeface="Arial"/>
              </a:rPr>
              <a:t>?"</a:t>
            </a:r>
            <a:r>
              <a:rPr sz="1200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8030717"/>
            <a:ext cx="309054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sz="1200" spc="-105" dirty="0">
                <a:latin typeface="Arial"/>
                <a:cs typeface="Arial"/>
              </a:rPr>
              <a:t>{</a:t>
            </a:r>
            <a:r>
              <a:rPr sz="1200" spc="-105" dirty="0">
                <a:solidFill>
                  <a:srgbClr val="A11515"/>
                </a:solidFill>
                <a:latin typeface="Arial"/>
                <a:cs typeface="Arial"/>
              </a:rPr>
              <a:t>"HOW </a:t>
            </a:r>
            <a:r>
              <a:rPr sz="1200" spc="-170" dirty="0">
                <a:solidFill>
                  <a:srgbClr val="A11515"/>
                </a:solidFill>
                <a:latin typeface="Arial"/>
                <a:cs typeface="Arial"/>
              </a:rPr>
              <a:t>ARE</a:t>
            </a:r>
            <a:r>
              <a:rPr sz="1200" spc="-9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A11515"/>
                </a:solidFill>
                <a:latin typeface="Arial"/>
                <a:cs typeface="Arial"/>
              </a:rPr>
              <a:t>YOU"</a:t>
            </a:r>
            <a:r>
              <a:rPr sz="1200" spc="-2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200" spc="85" dirty="0">
                <a:latin typeface="Arial"/>
                <a:cs typeface="Arial"/>
              </a:rPr>
              <a:t>{</a:t>
            </a:r>
            <a:r>
              <a:rPr sz="1200" spc="85" dirty="0">
                <a:solidFill>
                  <a:srgbClr val="A11515"/>
                </a:solidFill>
                <a:latin typeface="Arial"/>
                <a:cs typeface="Arial"/>
              </a:rPr>
              <a:t>"I'M </a:t>
            </a:r>
            <a:r>
              <a:rPr sz="1200" spc="35" dirty="0">
                <a:solidFill>
                  <a:srgbClr val="A11515"/>
                </a:solidFill>
                <a:latin typeface="Arial"/>
                <a:cs typeface="Arial"/>
              </a:rPr>
              <a:t>DOING</a:t>
            </a:r>
            <a:r>
              <a:rPr sz="1200" spc="-3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105" dirty="0">
                <a:solidFill>
                  <a:srgbClr val="A11515"/>
                </a:solidFill>
                <a:latin typeface="Arial"/>
                <a:cs typeface="Arial"/>
              </a:rPr>
              <a:t>FINE!"</a:t>
            </a:r>
            <a:r>
              <a:rPr sz="1200" spc="10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200" spc="155" dirty="0">
                <a:solidFill>
                  <a:srgbClr val="A11515"/>
                </a:solidFill>
                <a:latin typeface="Arial"/>
                <a:cs typeface="Arial"/>
              </a:rPr>
              <a:t>"I'M </a:t>
            </a:r>
            <a:r>
              <a:rPr sz="1200" spc="-140" dirty="0">
                <a:solidFill>
                  <a:srgbClr val="A11515"/>
                </a:solidFill>
                <a:latin typeface="Arial"/>
                <a:cs typeface="Arial"/>
              </a:rPr>
              <a:t>DOING </a:t>
            </a:r>
            <a:r>
              <a:rPr sz="1200" spc="-170" dirty="0">
                <a:solidFill>
                  <a:srgbClr val="A11515"/>
                </a:solidFill>
                <a:latin typeface="Arial"/>
                <a:cs typeface="Arial"/>
              </a:rPr>
              <a:t>WELL</a:t>
            </a:r>
            <a:r>
              <a:rPr sz="1200" spc="-9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195" dirty="0">
                <a:solidFill>
                  <a:srgbClr val="A11515"/>
                </a:solidFill>
                <a:latin typeface="Arial"/>
                <a:cs typeface="Arial"/>
              </a:rPr>
              <a:t>AND </a:t>
            </a:r>
            <a:r>
              <a:rPr sz="1200" spc="-20" dirty="0">
                <a:solidFill>
                  <a:srgbClr val="A11515"/>
                </a:solidFill>
                <a:latin typeface="Arial"/>
                <a:cs typeface="Arial"/>
              </a:rPr>
              <a:t>YOU?"</a:t>
            </a:r>
            <a:r>
              <a:rPr sz="1200" spc="-2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0"/>
              </a:lnSpc>
            </a:pPr>
            <a:r>
              <a:rPr sz="1200" spc="5" dirty="0">
                <a:solidFill>
                  <a:srgbClr val="A11515"/>
                </a:solidFill>
                <a:latin typeface="Arial"/>
                <a:cs typeface="Arial"/>
              </a:rPr>
              <a:t>"WHY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DO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YOU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WANT </a:t>
            </a:r>
            <a:r>
              <a:rPr sz="1200" spc="5" dirty="0">
                <a:solidFill>
                  <a:srgbClr val="A11515"/>
                </a:solidFill>
                <a:latin typeface="Arial"/>
                <a:cs typeface="Arial"/>
              </a:rPr>
              <a:t>TO </a:t>
            </a:r>
            <a:r>
              <a:rPr sz="1200" spc="-60" dirty="0">
                <a:solidFill>
                  <a:srgbClr val="A11515"/>
                </a:solidFill>
                <a:latin typeface="Arial"/>
                <a:cs typeface="Arial"/>
              </a:rPr>
              <a:t>KNOW HOW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AM</a:t>
            </a:r>
            <a:r>
              <a:rPr sz="1200" spc="-16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225" dirty="0">
                <a:solidFill>
                  <a:srgbClr val="A11515"/>
                </a:solidFill>
                <a:latin typeface="Arial"/>
                <a:cs typeface="Arial"/>
              </a:rPr>
              <a:t>I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30"/>
              </a:lnSpc>
            </a:pPr>
            <a:r>
              <a:rPr sz="1200" spc="290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445008"/>
            <a:ext cx="1711198" cy="772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6619" y="9234169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275333"/>
            <a:ext cx="5897880" cy="680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>
              <a:lnSpc>
                <a:spcPts val="1420"/>
              </a:lnSpc>
              <a:spcBef>
                <a:spcPts val="100"/>
              </a:spcBef>
            </a:pPr>
            <a:r>
              <a:rPr sz="1200" spc="-105" dirty="0">
                <a:latin typeface="Arial"/>
                <a:cs typeface="Arial"/>
              </a:rPr>
              <a:t>{</a:t>
            </a:r>
            <a:r>
              <a:rPr sz="1200" spc="-105" dirty="0">
                <a:solidFill>
                  <a:srgbClr val="A11515"/>
                </a:solidFill>
                <a:latin typeface="Arial"/>
                <a:cs typeface="Arial"/>
              </a:rPr>
              <a:t>"WHO </a:t>
            </a:r>
            <a:r>
              <a:rPr sz="1200" spc="-170" dirty="0">
                <a:solidFill>
                  <a:srgbClr val="A11515"/>
                </a:solidFill>
                <a:latin typeface="Arial"/>
                <a:cs typeface="Arial"/>
              </a:rPr>
              <a:t>ARE</a:t>
            </a:r>
            <a:r>
              <a:rPr sz="1200" spc="-9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A11515"/>
                </a:solidFill>
                <a:latin typeface="Arial"/>
                <a:cs typeface="Arial"/>
              </a:rPr>
              <a:t>YOU"</a:t>
            </a:r>
            <a:r>
              <a:rPr sz="1200" spc="-2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05"/>
              </a:lnSpc>
            </a:pPr>
            <a:r>
              <a:rPr sz="1200" spc="175" dirty="0">
                <a:latin typeface="Arial"/>
                <a:cs typeface="Arial"/>
              </a:rPr>
              <a:t>{</a:t>
            </a:r>
            <a:r>
              <a:rPr sz="1200" spc="175" dirty="0">
                <a:solidFill>
                  <a:srgbClr val="A11515"/>
                </a:solidFill>
                <a:latin typeface="Arial"/>
                <a:cs typeface="Arial"/>
              </a:rPr>
              <a:t>"I'M </a:t>
            </a:r>
            <a:r>
              <a:rPr sz="1200" spc="-190" dirty="0">
                <a:solidFill>
                  <a:srgbClr val="A11515"/>
                </a:solidFill>
                <a:latin typeface="Arial"/>
                <a:cs typeface="Arial"/>
              </a:rPr>
              <a:t>AN </a:t>
            </a:r>
            <a:r>
              <a:rPr sz="1200" spc="160" dirty="0">
                <a:solidFill>
                  <a:srgbClr val="A11515"/>
                </a:solidFill>
                <a:latin typeface="Arial"/>
                <a:cs typeface="Arial"/>
              </a:rPr>
              <a:t>A.I</a:t>
            </a:r>
            <a:r>
              <a:rPr sz="1200" spc="-10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A11515"/>
                </a:solidFill>
                <a:latin typeface="Arial"/>
                <a:cs typeface="Arial"/>
              </a:rPr>
              <a:t>PROGRAM."</a:t>
            </a:r>
            <a:r>
              <a:rPr sz="1200" spc="-8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 marR="2569210">
              <a:lnSpc>
                <a:spcPts val="1400"/>
              </a:lnSpc>
              <a:spcBef>
                <a:spcPts val="60"/>
              </a:spcBef>
            </a:pPr>
            <a:r>
              <a:rPr sz="1200" spc="110" dirty="0">
                <a:solidFill>
                  <a:srgbClr val="A11515"/>
                </a:solidFill>
                <a:latin typeface="Arial"/>
                <a:cs typeface="Arial"/>
              </a:rPr>
              <a:t>"I</a:t>
            </a:r>
            <a:r>
              <a:rPr sz="1200" spc="-13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THINK</a:t>
            </a:r>
            <a:r>
              <a:rPr sz="1200" spc="-114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THAT</a:t>
            </a:r>
            <a:r>
              <a:rPr sz="1200" spc="-11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YOU</a:t>
            </a:r>
            <a:r>
              <a:rPr sz="1200" spc="-12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A11515"/>
                </a:solidFill>
                <a:latin typeface="Arial"/>
                <a:cs typeface="Arial"/>
              </a:rPr>
              <a:t>KNOW</a:t>
            </a:r>
            <a:r>
              <a:rPr sz="1200" spc="-10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A11515"/>
                </a:solidFill>
                <a:latin typeface="Arial"/>
                <a:cs typeface="Arial"/>
              </a:rPr>
              <a:t>WHO</a:t>
            </a:r>
            <a:r>
              <a:rPr sz="1200" spc="-17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130" dirty="0">
                <a:solidFill>
                  <a:srgbClr val="A11515"/>
                </a:solidFill>
                <a:latin typeface="Arial"/>
                <a:cs typeface="Arial"/>
              </a:rPr>
              <a:t>I'M."</a:t>
            </a:r>
            <a:r>
              <a:rPr sz="1200" spc="130" dirty="0">
                <a:latin typeface="Arial"/>
                <a:cs typeface="Arial"/>
              </a:rPr>
              <a:t>,  </a:t>
            </a:r>
            <a:r>
              <a:rPr sz="1200" spc="5" dirty="0">
                <a:solidFill>
                  <a:srgbClr val="A11515"/>
                </a:solidFill>
                <a:latin typeface="Arial"/>
                <a:cs typeface="Arial"/>
              </a:rPr>
              <a:t>"WHY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ARE YOU</a:t>
            </a:r>
            <a:r>
              <a:rPr sz="1200" spc="-11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ASKING?"</a:t>
            </a:r>
            <a:r>
              <a:rPr sz="1200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345"/>
              </a:lnSpc>
            </a:pPr>
            <a:r>
              <a:rPr sz="1200" spc="290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420"/>
              </a:lnSpc>
            </a:pPr>
            <a:r>
              <a:rPr sz="1200" spc="-5" dirty="0">
                <a:latin typeface="Arial"/>
                <a:cs typeface="Arial"/>
              </a:rPr>
              <a:t>{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"ARE </a:t>
            </a:r>
            <a:r>
              <a:rPr sz="1200" spc="-215" dirty="0">
                <a:solidFill>
                  <a:srgbClr val="A11515"/>
                </a:solidFill>
                <a:latin typeface="Arial"/>
                <a:cs typeface="Arial"/>
              </a:rPr>
              <a:t>YOU</a:t>
            </a:r>
            <a:r>
              <a:rPr sz="1200" spc="-17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INTELLIGENT"</a:t>
            </a:r>
            <a:r>
              <a:rPr sz="120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 marR="3583940" indent="-83820">
              <a:lnSpc>
                <a:spcPts val="1430"/>
              </a:lnSpc>
              <a:spcBef>
                <a:spcPts val="40"/>
              </a:spcBef>
            </a:pPr>
            <a:r>
              <a:rPr sz="1200" spc="-25" dirty="0">
                <a:latin typeface="Arial"/>
                <a:cs typeface="Arial"/>
              </a:rPr>
              <a:t>{</a:t>
            </a:r>
            <a:r>
              <a:rPr sz="1200" spc="-25" dirty="0">
                <a:solidFill>
                  <a:srgbClr val="A11515"/>
                </a:solidFill>
                <a:latin typeface="Arial"/>
                <a:cs typeface="Arial"/>
              </a:rPr>
              <a:t>"YES,OFCUORSE."</a:t>
            </a:r>
            <a:r>
              <a:rPr sz="1200" spc="-25" dirty="0">
                <a:latin typeface="Arial"/>
                <a:cs typeface="Arial"/>
              </a:rPr>
              <a:t>,  </a:t>
            </a:r>
            <a:r>
              <a:rPr sz="1200" spc="-140" dirty="0">
                <a:solidFill>
                  <a:srgbClr val="A11515"/>
                </a:solidFill>
                <a:latin typeface="Arial"/>
                <a:cs typeface="Arial"/>
              </a:rPr>
              <a:t>"WHAT </a:t>
            </a:r>
            <a:r>
              <a:rPr sz="1200" spc="-245" dirty="0">
                <a:solidFill>
                  <a:srgbClr val="A11515"/>
                </a:solidFill>
                <a:latin typeface="Arial"/>
                <a:cs typeface="Arial"/>
              </a:rPr>
              <a:t>DO </a:t>
            </a:r>
            <a:r>
              <a:rPr sz="1200" spc="-215" dirty="0">
                <a:solidFill>
                  <a:srgbClr val="A11515"/>
                </a:solidFill>
                <a:latin typeface="Arial"/>
                <a:cs typeface="Arial"/>
              </a:rPr>
              <a:t>YOU</a:t>
            </a:r>
            <a:r>
              <a:rPr sz="1200" spc="-15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25" dirty="0">
                <a:solidFill>
                  <a:srgbClr val="A11515"/>
                </a:solidFill>
                <a:latin typeface="Arial"/>
                <a:cs typeface="Arial"/>
              </a:rPr>
              <a:t>THINK?"</a:t>
            </a:r>
            <a:r>
              <a:rPr sz="1200" spc="2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>
              <a:lnSpc>
                <a:spcPts val="1315"/>
              </a:lnSpc>
            </a:pP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"ACTUALY,I'M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VERY</a:t>
            </a:r>
            <a:r>
              <a:rPr sz="1200" spc="30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INTELLIGENT!"</a:t>
            </a:r>
            <a:r>
              <a:rPr sz="1200" spc="-5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35"/>
              </a:lnSpc>
            </a:pPr>
            <a:r>
              <a:rPr sz="1200" spc="290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ts val="1420"/>
              </a:lnSpc>
            </a:pPr>
            <a:r>
              <a:rPr sz="1200" spc="-5" dirty="0">
                <a:latin typeface="Arial"/>
                <a:cs typeface="Arial"/>
              </a:rPr>
              <a:t>{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"ARE </a:t>
            </a:r>
            <a:r>
              <a:rPr sz="1200" spc="-215" dirty="0">
                <a:solidFill>
                  <a:srgbClr val="A11515"/>
                </a:solidFill>
                <a:latin typeface="Arial"/>
                <a:cs typeface="Arial"/>
              </a:rPr>
              <a:t>YOU</a:t>
            </a:r>
            <a:r>
              <a:rPr sz="1200" spc="-14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REAL"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 marR="1745614" indent="-83820">
              <a:lnSpc>
                <a:spcPts val="1400"/>
              </a:lnSpc>
              <a:spcBef>
                <a:spcPts val="60"/>
              </a:spcBef>
            </a:pPr>
            <a:r>
              <a:rPr sz="1200" spc="-55" dirty="0">
                <a:latin typeface="Arial"/>
                <a:cs typeface="Arial"/>
              </a:rPr>
              <a:t>{</a:t>
            </a:r>
            <a:r>
              <a:rPr sz="1200" spc="-55" dirty="0">
                <a:solidFill>
                  <a:srgbClr val="A11515"/>
                </a:solidFill>
                <a:latin typeface="Arial"/>
                <a:cs typeface="Arial"/>
              </a:rPr>
              <a:t>"DOES </a:t>
            </a:r>
            <a:r>
              <a:rPr sz="1200" spc="-135" dirty="0">
                <a:solidFill>
                  <a:srgbClr val="A11515"/>
                </a:solidFill>
                <a:latin typeface="Arial"/>
                <a:cs typeface="Arial"/>
              </a:rPr>
              <a:t>THAT  QUESTION</a:t>
            </a:r>
            <a:r>
              <a:rPr sz="1200" spc="6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A11515"/>
                </a:solidFill>
                <a:latin typeface="Arial"/>
                <a:cs typeface="Arial"/>
              </a:rPr>
              <a:t>REALLY </a:t>
            </a:r>
            <a:r>
              <a:rPr sz="1200" spc="-185" dirty="0">
                <a:solidFill>
                  <a:srgbClr val="A11515"/>
                </a:solidFill>
                <a:latin typeface="Arial"/>
                <a:cs typeface="Arial"/>
              </a:rPr>
              <a:t>MATERS </a:t>
            </a:r>
            <a:r>
              <a:rPr sz="1200" spc="-190" dirty="0">
                <a:solidFill>
                  <a:srgbClr val="A11515"/>
                </a:solidFill>
                <a:latin typeface="Arial"/>
                <a:cs typeface="Arial"/>
              </a:rPr>
              <a:t>TO </a:t>
            </a:r>
            <a:r>
              <a:rPr sz="1200" spc="-20" dirty="0">
                <a:solidFill>
                  <a:srgbClr val="A11515"/>
                </a:solidFill>
                <a:latin typeface="Arial"/>
                <a:cs typeface="Arial"/>
              </a:rPr>
              <a:t>YOU?"</a:t>
            </a:r>
            <a:r>
              <a:rPr sz="1200" spc="-20" dirty="0">
                <a:latin typeface="Arial"/>
                <a:cs typeface="Arial"/>
              </a:rPr>
              <a:t>,  </a:t>
            </a:r>
            <a:r>
              <a:rPr sz="1200" spc="-140" dirty="0">
                <a:solidFill>
                  <a:srgbClr val="A11515"/>
                </a:solidFill>
                <a:latin typeface="Arial"/>
                <a:cs typeface="Arial"/>
              </a:rPr>
              <a:t>"WHAT </a:t>
            </a:r>
            <a:r>
              <a:rPr sz="1200" spc="-245" dirty="0">
                <a:solidFill>
                  <a:srgbClr val="A11515"/>
                </a:solidFill>
                <a:latin typeface="Arial"/>
                <a:cs typeface="Arial"/>
              </a:rPr>
              <a:t>DO </a:t>
            </a:r>
            <a:r>
              <a:rPr sz="1200" spc="-215" dirty="0">
                <a:solidFill>
                  <a:srgbClr val="A11515"/>
                </a:solidFill>
                <a:latin typeface="Arial"/>
                <a:cs typeface="Arial"/>
              </a:rPr>
              <a:t>YOU MEAN </a:t>
            </a:r>
            <a:r>
              <a:rPr sz="1200" spc="-155" dirty="0">
                <a:solidFill>
                  <a:srgbClr val="A11515"/>
                </a:solidFill>
                <a:latin typeface="Arial"/>
                <a:cs typeface="Arial"/>
              </a:rPr>
              <a:t>BY</a:t>
            </a:r>
            <a:r>
              <a:rPr sz="1200" spc="-55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THAT?"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553085">
              <a:lnSpc>
                <a:spcPts val="1340"/>
              </a:lnSpc>
            </a:pPr>
            <a:r>
              <a:rPr sz="1200" spc="90" dirty="0">
                <a:solidFill>
                  <a:srgbClr val="A11515"/>
                </a:solidFill>
                <a:latin typeface="Arial"/>
                <a:cs typeface="Arial"/>
              </a:rPr>
              <a:t>"I'M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AS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REAL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AS </a:t>
            </a:r>
            <a:r>
              <a:rPr sz="1200" spc="225" dirty="0">
                <a:solidFill>
                  <a:srgbClr val="A11515"/>
                </a:solidFill>
                <a:latin typeface="Arial"/>
                <a:cs typeface="Arial"/>
              </a:rPr>
              <a:t>I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CAN</a:t>
            </a:r>
            <a:r>
              <a:rPr sz="1200" spc="-20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105" dirty="0">
                <a:solidFill>
                  <a:srgbClr val="A11515"/>
                </a:solidFill>
                <a:latin typeface="Arial"/>
                <a:cs typeface="Arial"/>
              </a:rPr>
              <a:t>BE."</a:t>
            </a:r>
            <a:r>
              <a:rPr sz="1200" spc="105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15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0"/>
              </a:lnSpc>
            </a:pPr>
            <a:r>
              <a:rPr sz="1200" spc="290" dirty="0">
                <a:latin typeface="Arial"/>
                <a:cs typeface="Arial"/>
              </a:rPr>
              <a:t>};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05915">
              <a:lnSpc>
                <a:spcPts val="1420"/>
              </a:lnSpc>
              <a:spcBef>
                <a:spcPts val="5"/>
              </a:spcBef>
            </a:pPr>
            <a:r>
              <a:rPr sz="1200" spc="70" dirty="0">
                <a:solidFill>
                  <a:srgbClr val="2B91AD"/>
                </a:solidFill>
                <a:latin typeface="Arial"/>
                <a:cs typeface="Arial"/>
              </a:rPr>
              <a:t>size_t</a:t>
            </a:r>
            <a:r>
              <a:rPr sz="1200" spc="-105" dirty="0">
                <a:solidFill>
                  <a:srgbClr val="2B91AD"/>
                </a:solidFill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nKnowledgeBaseSize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95" dirty="0">
                <a:latin typeface="Arial"/>
                <a:cs typeface="Arial"/>
              </a:rPr>
              <a:t>=</a:t>
            </a:r>
            <a:r>
              <a:rPr sz="1200" spc="-105" dirty="0">
                <a:latin typeface="Arial"/>
                <a:cs typeface="Arial"/>
              </a:rPr>
              <a:t> </a:t>
            </a:r>
            <a:r>
              <a:rPr sz="1200" spc="85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1200" spc="85" dirty="0">
                <a:latin typeface="Arial"/>
                <a:cs typeface="Arial"/>
              </a:rPr>
              <a:t>(KnowledgeBase)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110" dirty="0">
                <a:latin typeface="Arial"/>
                <a:cs typeface="Arial"/>
              </a:rPr>
              <a:t>/  </a:t>
            </a:r>
            <a:r>
              <a:rPr sz="1200" spc="8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1200" spc="80" dirty="0">
                <a:latin typeface="Arial"/>
                <a:cs typeface="Arial"/>
              </a:rPr>
              <a:t>(KnowledgeBase[0]);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20"/>
              </a:lnSpc>
            </a:pPr>
            <a:r>
              <a:rPr sz="1200" spc="180" dirty="0">
                <a:solidFill>
                  <a:srgbClr val="0000FF"/>
                </a:solidFill>
                <a:latin typeface="Arial"/>
                <a:cs typeface="Arial"/>
              </a:rPr>
              <a:t>int </a:t>
            </a:r>
            <a:r>
              <a:rPr sz="1200" spc="190" dirty="0">
                <a:latin typeface="Arial"/>
                <a:cs typeface="Arial"/>
              </a:rPr>
              <a:t>main()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spc="17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20"/>
              </a:lnSpc>
            </a:pPr>
            <a:r>
              <a:rPr sz="1200" spc="85" dirty="0">
                <a:latin typeface="Arial"/>
                <a:cs typeface="Arial"/>
              </a:rPr>
              <a:t>srand((</a:t>
            </a:r>
            <a:r>
              <a:rPr sz="1200" spc="85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1200" spc="85" dirty="0">
                <a:latin typeface="Arial"/>
                <a:cs typeface="Arial"/>
              </a:rPr>
              <a:t>)time(</a:t>
            </a:r>
            <a:r>
              <a:rPr sz="1200" spc="85" dirty="0">
                <a:solidFill>
                  <a:srgbClr val="6D0088"/>
                </a:solidFill>
                <a:latin typeface="Arial"/>
                <a:cs typeface="Arial"/>
              </a:rPr>
              <a:t>NULL</a:t>
            </a:r>
            <a:r>
              <a:rPr sz="1200" spc="85" dirty="0">
                <a:latin typeface="Arial"/>
                <a:cs typeface="Arial"/>
              </a:rPr>
              <a:t>));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469265" marR="3173730">
              <a:lnSpc>
                <a:spcPts val="1400"/>
              </a:lnSpc>
            </a:pPr>
            <a:r>
              <a:rPr sz="1200" spc="135" dirty="0">
                <a:latin typeface="Arial"/>
                <a:cs typeface="Arial"/>
              </a:rPr>
              <a:t>std::</a:t>
            </a:r>
            <a:r>
              <a:rPr sz="1200" spc="135" dirty="0">
                <a:solidFill>
                  <a:srgbClr val="2B91AD"/>
                </a:solidFill>
                <a:latin typeface="Arial"/>
                <a:cs typeface="Arial"/>
              </a:rPr>
              <a:t>string </a:t>
            </a:r>
            <a:r>
              <a:rPr sz="1200" spc="160" dirty="0">
                <a:latin typeface="Arial"/>
                <a:cs typeface="Arial"/>
              </a:rPr>
              <a:t>sInput </a:t>
            </a:r>
            <a:r>
              <a:rPr sz="1200" spc="125" dirty="0">
                <a:latin typeface="Arial"/>
                <a:cs typeface="Arial"/>
              </a:rPr>
              <a:t>= </a:t>
            </a:r>
            <a:r>
              <a:rPr sz="1200" spc="155" dirty="0">
                <a:solidFill>
                  <a:srgbClr val="A11515"/>
                </a:solidFill>
                <a:latin typeface="Arial"/>
                <a:cs typeface="Arial"/>
              </a:rPr>
              <a:t>""</a:t>
            </a:r>
            <a:r>
              <a:rPr sz="1200" spc="155" dirty="0">
                <a:latin typeface="Arial"/>
                <a:cs typeface="Arial"/>
              </a:rPr>
              <a:t>;  </a:t>
            </a:r>
            <a:r>
              <a:rPr sz="1200" spc="135" dirty="0">
                <a:latin typeface="Arial"/>
                <a:cs typeface="Arial"/>
              </a:rPr>
              <a:t>std::</a:t>
            </a:r>
            <a:r>
              <a:rPr sz="1200" spc="135" dirty="0">
                <a:solidFill>
                  <a:srgbClr val="2B91AD"/>
                </a:solidFill>
                <a:latin typeface="Arial"/>
                <a:cs typeface="Arial"/>
              </a:rPr>
              <a:t>string </a:t>
            </a:r>
            <a:r>
              <a:rPr sz="1200" spc="125" dirty="0">
                <a:latin typeface="Arial"/>
                <a:cs typeface="Arial"/>
              </a:rPr>
              <a:t>sResponse =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0" dirty="0">
                <a:solidFill>
                  <a:srgbClr val="A11515"/>
                </a:solidFill>
                <a:latin typeface="Arial"/>
                <a:cs typeface="Arial"/>
              </a:rPr>
              <a:t>""</a:t>
            </a:r>
            <a:r>
              <a:rPr sz="1200" spc="150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ts val="1420"/>
              </a:lnSpc>
            </a:pPr>
            <a:r>
              <a:rPr sz="1200" spc="215" dirty="0">
                <a:solidFill>
                  <a:srgbClr val="0000FF"/>
                </a:solidFill>
                <a:latin typeface="Arial"/>
                <a:cs typeface="Arial"/>
              </a:rPr>
              <a:t>while </a:t>
            </a:r>
            <a:r>
              <a:rPr sz="1200" spc="190" dirty="0">
                <a:latin typeface="Arial"/>
                <a:cs typeface="Arial"/>
              </a:rPr>
              <a:t>(1)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15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6465" marR="2543175">
              <a:lnSpc>
                <a:spcPts val="1400"/>
              </a:lnSpc>
              <a:spcBef>
                <a:spcPts val="60"/>
              </a:spcBef>
            </a:pPr>
            <a:r>
              <a:rPr sz="1200" spc="145" dirty="0">
                <a:latin typeface="Arial"/>
                <a:cs typeface="Arial"/>
              </a:rPr>
              <a:t>std::cout </a:t>
            </a:r>
            <a:r>
              <a:rPr sz="1200" spc="175" dirty="0">
                <a:solidFill>
                  <a:srgbClr val="008080"/>
                </a:solidFill>
                <a:latin typeface="Arial"/>
                <a:cs typeface="Arial"/>
              </a:rPr>
              <a:t>&lt;&lt; </a:t>
            </a:r>
            <a:r>
              <a:rPr sz="1200" spc="140" dirty="0">
                <a:solidFill>
                  <a:srgbClr val="A11515"/>
                </a:solidFill>
                <a:latin typeface="Arial"/>
                <a:cs typeface="Arial"/>
              </a:rPr>
              <a:t>"&gt;"</a:t>
            </a:r>
            <a:r>
              <a:rPr sz="1200" spc="140" dirty="0">
                <a:latin typeface="Arial"/>
                <a:cs typeface="Arial"/>
              </a:rPr>
              <a:t>;  </a:t>
            </a:r>
            <a:r>
              <a:rPr sz="1200" spc="135" dirty="0">
                <a:latin typeface="Arial"/>
                <a:cs typeface="Arial"/>
              </a:rPr>
              <a:t>std::getline(std::cin,</a:t>
            </a:r>
            <a:r>
              <a:rPr sz="1200" spc="125" dirty="0">
                <a:latin typeface="Arial"/>
                <a:cs typeface="Arial"/>
              </a:rPr>
              <a:t> </a:t>
            </a:r>
            <a:r>
              <a:rPr sz="1200" spc="145" dirty="0">
                <a:latin typeface="Arial"/>
                <a:cs typeface="Arial"/>
              </a:rPr>
              <a:t>sInput);</a:t>
            </a:r>
            <a:endParaRPr sz="1200">
              <a:latin typeface="Arial"/>
              <a:cs typeface="Arial"/>
            </a:endParaRPr>
          </a:p>
          <a:p>
            <a:pPr marL="926465" marR="1846580">
              <a:lnSpc>
                <a:spcPts val="1400"/>
              </a:lnSpc>
              <a:spcBef>
                <a:spcPts val="10"/>
              </a:spcBef>
            </a:pPr>
            <a:r>
              <a:rPr sz="1200" spc="70" dirty="0">
                <a:solidFill>
                  <a:srgbClr val="2B91AD"/>
                </a:solidFill>
                <a:latin typeface="Arial"/>
                <a:cs typeface="Arial"/>
              </a:rPr>
              <a:t>vstring </a:t>
            </a:r>
            <a:r>
              <a:rPr sz="1200" spc="85" dirty="0">
                <a:latin typeface="Arial"/>
                <a:cs typeface="Arial"/>
              </a:rPr>
              <a:t>responses </a:t>
            </a:r>
            <a:r>
              <a:rPr sz="1200" spc="95" dirty="0">
                <a:latin typeface="Arial"/>
                <a:cs typeface="Arial"/>
              </a:rPr>
              <a:t>= </a:t>
            </a:r>
            <a:r>
              <a:rPr sz="1200" spc="75" dirty="0">
                <a:latin typeface="Arial"/>
                <a:cs typeface="Arial"/>
              </a:rPr>
              <a:t>find_match(sInput);  </a:t>
            </a:r>
            <a:r>
              <a:rPr sz="1200" spc="265" dirty="0">
                <a:solidFill>
                  <a:srgbClr val="0000FF"/>
                </a:solidFill>
                <a:latin typeface="Arial"/>
                <a:cs typeface="Arial"/>
              </a:rPr>
              <a:t>if </a:t>
            </a:r>
            <a:r>
              <a:rPr sz="1200" spc="75" dirty="0">
                <a:latin typeface="Arial"/>
                <a:cs typeface="Arial"/>
              </a:rPr>
              <a:t>(sInput </a:t>
            </a:r>
            <a:r>
              <a:rPr sz="1200" spc="95" dirty="0">
                <a:solidFill>
                  <a:srgbClr val="008080"/>
                </a:solidFill>
                <a:latin typeface="Arial"/>
                <a:cs typeface="Arial"/>
              </a:rPr>
              <a:t>== </a:t>
            </a:r>
            <a:r>
              <a:rPr sz="1200" spc="85" dirty="0">
                <a:solidFill>
                  <a:srgbClr val="A11515"/>
                </a:solidFill>
                <a:latin typeface="Arial"/>
                <a:cs typeface="Arial"/>
              </a:rPr>
              <a:t>"BYE"</a:t>
            </a:r>
            <a:r>
              <a:rPr sz="1200" spc="85" dirty="0">
                <a:latin typeface="Arial"/>
                <a:cs typeface="Arial"/>
              </a:rPr>
              <a:t>)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135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383665">
              <a:lnSpc>
                <a:spcPts val="1340"/>
              </a:lnSpc>
            </a:pPr>
            <a:r>
              <a:rPr sz="1200" spc="70" dirty="0">
                <a:latin typeface="Arial"/>
                <a:cs typeface="Arial"/>
              </a:rPr>
              <a:t>std::cout </a:t>
            </a:r>
            <a:r>
              <a:rPr sz="1200" spc="-5" dirty="0">
                <a:solidFill>
                  <a:srgbClr val="008080"/>
                </a:solidFill>
                <a:latin typeface="Arial"/>
                <a:cs typeface="Arial"/>
              </a:rPr>
              <a:t>&lt;&lt; </a:t>
            </a:r>
            <a:r>
              <a:rPr sz="1200" spc="65" dirty="0">
                <a:solidFill>
                  <a:srgbClr val="A11515"/>
                </a:solidFill>
                <a:latin typeface="Arial"/>
                <a:cs typeface="Arial"/>
              </a:rPr>
              <a:t>"IT </a:t>
            </a:r>
            <a:r>
              <a:rPr sz="1200" spc="10" dirty="0">
                <a:solidFill>
                  <a:srgbClr val="A11515"/>
                </a:solidFill>
                <a:latin typeface="Arial"/>
                <a:cs typeface="Arial"/>
              </a:rPr>
              <a:t>WAS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NICE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TALKING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TO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YOU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USER,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SEE</a:t>
            </a:r>
            <a:r>
              <a:rPr sz="1200" spc="-12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YOU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sz="1200" spc="65" dirty="0">
                <a:solidFill>
                  <a:srgbClr val="A11515"/>
                </a:solidFill>
                <a:latin typeface="Arial"/>
                <a:cs typeface="Arial"/>
              </a:rPr>
              <a:t>NEXTTIME!" </a:t>
            </a:r>
            <a:r>
              <a:rPr sz="1200" spc="65" dirty="0">
                <a:solidFill>
                  <a:srgbClr val="008080"/>
                </a:solidFill>
                <a:latin typeface="Arial"/>
                <a:cs typeface="Arial"/>
              </a:rPr>
              <a:t>&lt;&lt;</a:t>
            </a:r>
            <a:r>
              <a:rPr sz="1200" spc="-15" dirty="0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std::endl;</a:t>
            </a:r>
            <a:endParaRPr sz="1200">
              <a:latin typeface="Arial"/>
              <a:cs typeface="Arial"/>
            </a:endParaRPr>
          </a:p>
          <a:p>
            <a:pPr marR="2592070" algn="ctr">
              <a:lnSpc>
                <a:spcPts val="1405"/>
              </a:lnSpc>
            </a:pPr>
            <a:r>
              <a:rPr sz="1200" spc="135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1200" spc="135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 marL="926465">
              <a:lnSpc>
                <a:spcPts val="1405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926465">
              <a:lnSpc>
                <a:spcPts val="1420"/>
              </a:lnSpc>
            </a:pPr>
            <a:r>
              <a:rPr sz="1200" spc="100" dirty="0">
                <a:solidFill>
                  <a:srgbClr val="0000FF"/>
                </a:solidFill>
                <a:latin typeface="Arial"/>
                <a:cs typeface="Arial"/>
              </a:rPr>
              <a:t>else </a:t>
            </a:r>
            <a:r>
              <a:rPr sz="1200" spc="265" dirty="0">
                <a:solidFill>
                  <a:srgbClr val="0000FF"/>
                </a:solidFill>
                <a:latin typeface="Arial"/>
                <a:cs typeface="Arial"/>
              </a:rPr>
              <a:t>if </a:t>
            </a:r>
            <a:r>
              <a:rPr sz="1200" spc="100" dirty="0">
                <a:latin typeface="Arial"/>
                <a:cs typeface="Arial"/>
              </a:rPr>
              <a:t>(responses.size() </a:t>
            </a:r>
            <a:r>
              <a:rPr sz="1200" spc="125" dirty="0">
                <a:latin typeface="Arial"/>
                <a:cs typeface="Arial"/>
              </a:rPr>
              <a:t>== </a:t>
            </a:r>
            <a:r>
              <a:rPr sz="1200" spc="100" dirty="0">
                <a:latin typeface="Arial"/>
                <a:cs typeface="Arial"/>
              </a:rPr>
              <a:t>0)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15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0248" y="8052054"/>
            <a:ext cx="15614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70" dirty="0">
                <a:solidFill>
                  <a:srgbClr val="A11515"/>
                </a:solidFill>
                <a:latin typeface="Arial"/>
                <a:cs typeface="Arial"/>
              </a:rPr>
              <a:t>UNDERSTAND </a:t>
            </a:r>
            <a:r>
              <a:rPr sz="1200" spc="-180" dirty="0">
                <a:solidFill>
                  <a:srgbClr val="A11515"/>
                </a:solidFill>
                <a:latin typeface="Arial"/>
                <a:cs typeface="Arial"/>
              </a:rPr>
              <a:t>WHAT</a:t>
            </a:r>
            <a:r>
              <a:rPr sz="1200" spc="-20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175" dirty="0">
                <a:solidFill>
                  <a:srgbClr val="A11515"/>
                </a:solidFill>
                <a:latin typeface="Arial"/>
                <a:cs typeface="Arial"/>
              </a:rPr>
              <a:t>YOU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8052054"/>
            <a:ext cx="3997325" cy="92201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369695">
              <a:lnSpc>
                <a:spcPts val="1400"/>
              </a:lnSpc>
              <a:spcBef>
                <a:spcPts val="180"/>
              </a:spcBef>
            </a:pPr>
            <a:r>
              <a:rPr sz="1200" spc="95" dirty="0">
                <a:latin typeface="Arial"/>
                <a:cs typeface="Arial"/>
              </a:rPr>
              <a:t>std::cout </a:t>
            </a:r>
            <a:r>
              <a:rPr sz="1200" spc="-5" dirty="0">
                <a:solidFill>
                  <a:srgbClr val="008080"/>
                </a:solidFill>
                <a:latin typeface="Arial"/>
                <a:cs typeface="Arial"/>
              </a:rPr>
              <a:t>&lt;&lt; </a:t>
            </a:r>
            <a:r>
              <a:rPr sz="1200" spc="90" dirty="0">
                <a:solidFill>
                  <a:srgbClr val="A11515"/>
                </a:solidFill>
                <a:latin typeface="Arial"/>
                <a:cs typeface="Arial"/>
              </a:rPr>
              <a:t>"I'M </a:t>
            </a:r>
            <a:r>
              <a:rPr sz="1200" dirty="0">
                <a:solidFill>
                  <a:srgbClr val="A11515"/>
                </a:solidFill>
                <a:latin typeface="Arial"/>
                <a:cs typeface="Arial"/>
              </a:rPr>
              <a:t>NOT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SURE </a:t>
            </a:r>
            <a:r>
              <a:rPr sz="1200" spc="95" dirty="0">
                <a:solidFill>
                  <a:srgbClr val="A11515"/>
                </a:solidFill>
                <a:latin typeface="Arial"/>
                <a:cs typeface="Arial"/>
              </a:rPr>
              <a:t>IF </a:t>
            </a:r>
            <a:r>
              <a:rPr sz="1200" spc="225" dirty="0">
                <a:solidFill>
                  <a:srgbClr val="A11515"/>
                </a:solidFill>
                <a:latin typeface="Arial"/>
                <a:cs typeface="Arial"/>
              </a:rPr>
              <a:t>I 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ARE TALKING</a:t>
            </a:r>
            <a:r>
              <a:rPr sz="1200" spc="260" dirty="0">
                <a:solidFill>
                  <a:srgbClr val="A1151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A11515"/>
                </a:solidFill>
                <a:latin typeface="Arial"/>
                <a:cs typeface="Arial"/>
              </a:rPr>
              <a:t>ABOUT."</a:t>
            </a:r>
            <a:endParaRPr sz="1200">
              <a:latin typeface="Arial"/>
              <a:cs typeface="Arial"/>
            </a:endParaRPr>
          </a:p>
          <a:p>
            <a:pPr marL="1841500">
              <a:lnSpc>
                <a:spcPts val="1325"/>
              </a:lnSpc>
            </a:pPr>
            <a:r>
              <a:rPr sz="1200" spc="130" dirty="0">
                <a:solidFill>
                  <a:srgbClr val="008080"/>
                </a:solidFill>
                <a:latin typeface="Arial"/>
                <a:cs typeface="Arial"/>
              </a:rPr>
              <a:t>&lt;&lt;</a:t>
            </a:r>
            <a:r>
              <a:rPr sz="1200" spc="330" dirty="0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std::endl;</a:t>
            </a:r>
            <a:endParaRPr sz="1200">
              <a:latin typeface="Arial"/>
              <a:cs typeface="Arial"/>
            </a:endParaRPr>
          </a:p>
          <a:p>
            <a:pPr marL="926465">
              <a:lnSpc>
                <a:spcPts val="1420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926465">
              <a:lnSpc>
                <a:spcPts val="1430"/>
              </a:lnSpc>
            </a:pPr>
            <a:r>
              <a:rPr sz="1200" spc="21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sz="1200" spc="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5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6619" y="9237980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37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996442"/>
            <a:ext cx="6262370" cy="5300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082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  <a:p>
            <a:pPr marL="1383665">
              <a:lnSpc>
                <a:spcPts val="1420"/>
              </a:lnSpc>
              <a:spcBef>
                <a:spcPts val="35"/>
              </a:spcBef>
            </a:pPr>
            <a:r>
              <a:rPr sz="1200" spc="120" dirty="0">
                <a:solidFill>
                  <a:srgbClr val="0000FF"/>
                </a:solidFill>
                <a:latin typeface="Arial"/>
                <a:cs typeface="Arial"/>
              </a:rPr>
              <a:t>int </a:t>
            </a:r>
            <a:r>
              <a:rPr sz="1200" spc="25" dirty="0">
                <a:latin typeface="Arial"/>
                <a:cs typeface="Arial"/>
              </a:rPr>
              <a:t>nSelection </a:t>
            </a:r>
            <a:r>
              <a:rPr sz="1200" spc="30" dirty="0">
                <a:latin typeface="Arial"/>
                <a:cs typeface="Arial"/>
              </a:rPr>
              <a:t>= </a:t>
            </a:r>
            <a:r>
              <a:rPr sz="1200" spc="25" dirty="0">
                <a:latin typeface="Arial"/>
                <a:cs typeface="Arial"/>
              </a:rPr>
              <a:t>rand() </a:t>
            </a:r>
            <a:r>
              <a:rPr sz="1200" spc="-5" dirty="0">
                <a:latin typeface="Arial"/>
                <a:cs typeface="Arial"/>
              </a:rPr>
              <a:t>%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MAX_RESP;</a:t>
            </a:r>
            <a:endParaRPr sz="1200">
              <a:latin typeface="Arial"/>
              <a:cs typeface="Arial"/>
            </a:endParaRPr>
          </a:p>
          <a:p>
            <a:pPr marL="12700" marR="1057275" indent="1369695">
              <a:lnSpc>
                <a:spcPts val="1400"/>
              </a:lnSpc>
              <a:spcBef>
                <a:spcPts val="60"/>
              </a:spcBef>
            </a:pPr>
            <a:r>
              <a:rPr sz="1200" spc="95" dirty="0">
                <a:latin typeface="Arial"/>
                <a:cs typeface="Arial"/>
              </a:rPr>
              <a:t>sResponse </a:t>
            </a:r>
            <a:r>
              <a:rPr sz="1200" spc="95" dirty="0">
                <a:solidFill>
                  <a:srgbClr val="008080"/>
                </a:solidFill>
                <a:latin typeface="Arial"/>
                <a:cs typeface="Arial"/>
              </a:rPr>
              <a:t>= </a:t>
            </a:r>
            <a:r>
              <a:rPr sz="1200" spc="80" dirty="0">
                <a:latin typeface="Arial"/>
                <a:cs typeface="Arial"/>
              </a:rPr>
              <a:t>responses</a:t>
            </a:r>
            <a:r>
              <a:rPr sz="1200" spc="80" dirty="0">
                <a:solidFill>
                  <a:srgbClr val="008080"/>
                </a:solidFill>
                <a:latin typeface="Arial"/>
                <a:cs typeface="Arial"/>
              </a:rPr>
              <a:t>[</a:t>
            </a:r>
            <a:r>
              <a:rPr sz="1200" spc="80" dirty="0">
                <a:latin typeface="Arial"/>
                <a:cs typeface="Arial"/>
              </a:rPr>
              <a:t>nSelection</a:t>
            </a:r>
            <a:r>
              <a:rPr sz="1200" spc="80" dirty="0">
                <a:solidFill>
                  <a:srgbClr val="008080"/>
                </a:solidFill>
                <a:latin typeface="Arial"/>
                <a:cs typeface="Arial"/>
              </a:rPr>
              <a:t>]</a:t>
            </a:r>
            <a:r>
              <a:rPr sz="1200" spc="80" dirty="0">
                <a:latin typeface="Arial"/>
                <a:cs typeface="Arial"/>
              </a:rPr>
              <a:t>; </a:t>
            </a:r>
            <a:r>
              <a:rPr sz="1200" spc="70" dirty="0">
                <a:latin typeface="Arial"/>
                <a:cs typeface="Arial"/>
              </a:rPr>
              <a:t>std::cout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100" dirty="0">
                <a:solidFill>
                  <a:srgbClr val="008080"/>
                </a:solidFill>
                <a:latin typeface="Arial"/>
                <a:cs typeface="Arial"/>
              </a:rPr>
              <a:t>&lt;&lt;  </a:t>
            </a:r>
            <a:r>
              <a:rPr sz="1200" spc="95" dirty="0">
                <a:latin typeface="Arial"/>
                <a:cs typeface="Arial"/>
              </a:rPr>
              <a:t>sResponse </a:t>
            </a:r>
            <a:r>
              <a:rPr sz="1200" spc="95" dirty="0">
                <a:solidFill>
                  <a:srgbClr val="008080"/>
                </a:solidFill>
                <a:latin typeface="Arial"/>
                <a:cs typeface="Arial"/>
              </a:rPr>
              <a:t>&lt;&lt;</a:t>
            </a:r>
            <a:r>
              <a:rPr sz="1200" spc="20" dirty="0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std::endl;</a:t>
            </a:r>
            <a:endParaRPr sz="1200">
              <a:latin typeface="Arial"/>
              <a:cs typeface="Arial"/>
            </a:endParaRPr>
          </a:p>
          <a:p>
            <a:pPr marL="926465">
              <a:lnSpc>
                <a:spcPts val="1340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35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ts val="1420"/>
              </a:lnSpc>
            </a:pPr>
            <a:r>
              <a:rPr sz="1200" spc="15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120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40" dirty="0">
                <a:latin typeface="Arial"/>
                <a:cs typeface="Arial"/>
              </a:rPr>
              <a:t>0;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0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35"/>
              </a:lnSpc>
              <a:tabLst>
                <a:tab pos="934085" algn="l"/>
                <a:tab pos="2275840" algn="l"/>
              </a:tabLst>
            </a:pPr>
            <a:r>
              <a:rPr sz="1200" spc="225" dirty="0">
                <a:solidFill>
                  <a:srgbClr val="008000"/>
                </a:solidFill>
                <a:latin typeface="Arial"/>
                <a:cs typeface="Arial"/>
              </a:rPr>
              <a:t>//</a:t>
            </a:r>
            <a:r>
              <a:rPr sz="1200" spc="16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008000"/>
                </a:solidFill>
                <a:latin typeface="Arial"/>
                <a:cs typeface="Arial"/>
              </a:rPr>
              <a:t>make</a:t>
            </a:r>
            <a:r>
              <a:rPr sz="1200" spc="18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008000"/>
                </a:solidFill>
                <a:latin typeface="Arial"/>
                <a:cs typeface="Arial"/>
              </a:rPr>
              <a:t>a	</a:t>
            </a:r>
            <a:r>
              <a:rPr sz="1200" spc="110" dirty="0">
                <a:solidFill>
                  <a:srgbClr val="008000"/>
                </a:solidFill>
                <a:latin typeface="Arial"/>
                <a:cs typeface="Arial"/>
              </a:rPr>
              <a:t>search</a:t>
            </a:r>
            <a:r>
              <a:rPr sz="1200" spc="254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200" spc="114" dirty="0">
                <a:solidFill>
                  <a:srgbClr val="008000"/>
                </a:solidFill>
                <a:latin typeface="Arial"/>
                <a:cs typeface="Arial"/>
              </a:rPr>
              <a:t>for</a:t>
            </a:r>
            <a:r>
              <a:rPr sz="1200" spc="2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200" spc="105" dirty="0">
                <a:solidFill>
                  <a:srgbClr val="008000"/>
                </a:solidFill>
                <a:latin typeface="Arial"/>
                <a:cs typeface="Arial"/>
              </a:rPr>
              <a:t>the	</a:t>
            </a:r>
            <a:r>
              <a:rPr sz="1200" spc="100" dirty="0">
                <a:solidFill>
                  <a:srgbClr val="008000"/>
                </a:solidFill>
                <a:latin typeface="Arial"/>
                <a:cs typeface="Arial"/>
              </a:rPr>
              <a:t>user's</a:t>
            </a:r>
            <a:r>
              <a:rPr sz="1200" spc="3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200" spc="100" dirty="0">
                <a:solidFill>
                  <a:srgbClr val="008000"/>
                </a:solidFill>
                <a:latin typeface="Arial"/>
                <a:cs typeface="Arial"/>
              </a:rPr>
              <a:t>input</a:t>
            </a:r>
            <a:endParaRPr sz="1200">
              <a:latin typeface="Arial"/>
              <a:cs typeface="Arial"/>
            </a:endParaRPr>
          </a:p>
          <a:p>
            <a:pPr marL="12700" marR="2942590">
              <a:lnSpc>
                <a:spcPts val="1390"/>
              </a:lnSpc>
              <a:spcBef>
                <a:spcPts val="85"/>
              </a:spcBef>
              <a:tabLst>
                <a:tab pos="2694940" algn="l"/>
              </a:tabLst>
            </a:pPr>
            <a:r>
              <a:rPr sz="1200" spc="225" dirty="0">
                <a:solidFill>
                  <a:srgbClr val="008000"/>
                </a:solidFill>
                <a:latin typeface="Arial"/>
                <a:cs typeface="Arial"/>
              </a:rPr>
              <a:t>// </a:t>
            </a:r>
            <a:r>
              <a:rPr sz="1200" spc="125" dirty="0">
                <a:solidFill>
                  <a:srgbClr val="008000"/>
                </a:solidFill>
                <a:latin typeface="Arial"/>
                <a:cs typeface="Arial"/>
              </a:rPr>
              <a:t>inside </a:t>
            </a:r>
            <a:r>
              <a:rPr sz="1200" spc="135" dirty="0">
                <a:solidFill>
                  <a:srgbClr val="008000"/>
                </a:solidFill>
                <a:latin typeface="Arial"/>
                <a:cs typeface="Arial"/>
              </a:rPr>
              <a:t>the </a:t>
            </a:r>
            <a:r>
              <a:rPr sz="1200" spc="150" dirty="0">
                <a:solidFill>
                  <a:srgbClr val="008000"/>
                </a:solidFill>
                <a:latin typeface="Arial"/>
                <a:cs typeface="Arial"/>
              </a:rPr>
              <a:t>database </a:t>
            </a:r>
            <a:r>
              <a:rPr sz="1200" spc="125" dirty="0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sz="1200" spc="135" dirty="0">
                <a:solidFill>
                  <a:srgbClr val="008000"/>
                </a:solidFill>
                <a:latin typeface="Arial"/>
                <a:cs typeface="Arial"/>
              </a:rPr>
              <a:t>the </a:t>
            </a:r>
            <a:r>
              <a:rPr sz="1200" spc="155" dirty="0">
                <a:solidFill>
                  <a:srgbClr val="008000"/>
                </a:solidFill>
                <a:latin typeface="Arial"/>
                <a:cs typeface="Arial"/>
              </a:rPr>
              <a:t>program  </a:t>
            </a:r>
            <a:r>
              <a:rPr sz="1200" spc="120" dirty="0">
                <a:solidFill>
                  <a:srgbClr val="2B91AD"/>
                </a:solidFill>
                <a:latin typeface="Arial"/>
                <a:cs typeface="Arial"/>
              </a:rPr>
              <a:t>vstring</a:t>
            </a:r>
            <a:r>
              <a:rPr sz="1200" spc="550" dirty="0">
                <a:solidFill>
                  <a:srgbClr val="2B91AD"/>
                </a:solidFill>
                <a:latin typeface="Arial"/>
                <a:cs typeface="Arial"/>
              </a:rPr>
              <a:t> </a:t>
            </a:r>
            <a:r>
              <a:rPr sz="1200" spc="125" dirty="0">
                <a:latin typeface="Arial"/>
                <a:cs typeface="Arial"/>
              </a:rPr>
              <a:t>find_match(std::</a:t>
            </a:r>
            <a:r>
              <a:rPr sz="1200" spc="125" dirty="0">
                <a:solidFill>
                  <a:srgbClr val="2B91AD"/>
                </a:solidFill>
                <a:latin typeface="Arial"/>
                <a:cs typeface="Arial"/>
              </a:rPr>
              <a:t>string	</a:t>
            </a:r>
            <a:r>
              <a:rPr sz="1200" spc="120" dirty="0">
                <a:solidFill>
                  <a:srgbClr val="808080"/>
                </a:solidFill>
                <a:latin typeface="Arial"/>
                <a:cs typeface="Arial"/>
              </a:rPr>
              <a:t>input</a:t>
            </a:r>
            <a:r>
              <a:rPr sz="1200" spc="120" dirty="0">
                <a:latin typeface="Arial"/>
                <a:cs typeface="Arial"/>
              </a:rPr>
              <a:t>)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27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325"/>
              </a:lnSpc>
            </a:pPr>
            <a:r>
              <a:rPr sz="1200" spc="195" dirty="0">
                <a:solidFill>
                  <a:srgbClr val="2B91AD"/>
                </a:solidFill>
                <a:latin typeface="Arial"/>
                <a:cs typeface="Arial"/>
              </a:rPr>
              <a:t>vstring</a:t>
            </a:r>
            <a:r>
              <a:rPr sz="1200" spc="145" dirty="0">
                <a:solidFill>
                  <a:srgbClr val="2B91AD"/>
                </a:solidFill>
                <a:latin typeface="Arial"/>
                <a:cs typeface="Arial"/>
              </a:rPr>
              <a:t> </a:t>
            </a:r>
            <a:r>
              <a:rPr sz="1200" spc="180" dirty="0">
                <a:latin typeface="Arial"/>
                <a:cs typeface="Arial"/>
              </a:rPr>
              <a:t>result;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15"/>
              </a:lnSpc>
            </a:pPr>
            <a:r>
              <a:rPr sz="1200" spc="229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200" spc="1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204" dirty="0">
                <a:latin typeface="Arial"/>
                <a:cs typeface="Arial"/>
              </a:rPr>
              <a:t>(</a:t>
            </a:r>
            <a:r>
              <a:rPr sz="1200" spc="204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310" dirty="0">
                <a:latin typeface="Arial"/>
                <a:cs typeface="Arial"/>
              </a:rPr>
              <a:t>i</a:t>
            </a:r>
            <a:r>
              <a:rPr sz="1200" spc="400" dirty="0">
                <a:latin typeface="Arial"/>
                <a:cs typeface="Arial"/>
              </a:rPr>
              <a:t> </a:t>
            </a:r>
            <a:r>
              <a:rPr sz="1200" spc="95" dirty="0">
                <a:latin typeface="Arial"/>
                <a:cs typeface="Arial"/>
              </a:rPr>
              <a:t>=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250" dirty="0">
                <a:latin typeface="Arial"/>
                <a:cs typeface="Arial"/>
              </a:rPr>
              <a:t>0;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310" dirty="0">
                <a:latin typeface="Arial"/>
                <a:cs typeface="Arial"/>
              </a:rPr>
              <a:t>i</a:t>
            </a:r>
            <a:r>
              <a:rPr sz="1200" spc="400" dirty="0">
                <a:latin typeface="Arial"/>
                <a:cs typeface="Arial"/>
              </a:rPr>
              <a:t> </a:t>
            </a:r>
            <a:r>
              <a:rPr sz="1200" spc="95" dirty="0">
                <a:latin typeface="Arial"/>
                <a:cs typeface="Arial"/>
              </a:rPr>
              <a:t>&lt;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nKnowledgeBaseSize;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254" dirty="0">
                <a:latin typeface="Arial"/>
                <a:cs typeface="Arial"/>
              </a:rPr>
              <a:t>++i)</a:t>
            </a:r>
            <a:r>
              <a:rPr sz="1200" spc="16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383665" marR="1177290" indent="-457200">
              <a:lnSpc>
                <a:spcPts val="1400"/>
              </a:lnSpc>
              <a:spcBef>
                <a:spcPts val="60"/>
              </a:spcBef>
            </a:pPr>
            <a:r>
              <a:rPr sz="1200" spc="265" dirty="0">
                <a:solidFill>
                  <a:srgbClr val="0000FF"/>
                </a:solidFill>
                <a:latin typeface="Arial"/>
                <a:cs typeface="Arial"/>
              </a:rPr>
              <a:t>if </a:t>
            </a:r>
            <a:r>
              <a:rPr sz="1200" spc="125" dirty="0">
                <a:latin typeface="Arial"/>
                <a:cs typeface="Arial"/>
              </a:rPr>
              <a:t>(std::</a:t>
            </a:r>
            <a:r>
              <a:rPr sz="1200" spc="125" dirty="0">
                <a:solidFill>
                  <a:srgbClr val="2B91AD"/>
                </a:solidFill>
                <a:latin typeface="Arial"/>
                <a:cs typeface="Arial"/>
              </a:rPr>
              <a:t>string</a:t>
            </a:r>
            <a:r>
              <a:rPr sz="1200" spc="125" dirty="0">
                <a:latin typeface="Arial"/>
                <a:cs typeface="Arial"/>
              </a:rPr>
              <a:t>(KnowledgeBase[i].input) </a:t>
            </a:r>
            <a:r>
              <a:rPr sz="1200" spc="125" dirty="0">
                <a:solidFill>
                  <a:srgbClr val="008080"/>
                </a:solidFill>
                <a:latin typeface="Arial"/>
                <a:cs typeface="Arial"/>
              </a:rPr>
              <a:t>== </a:t>
            </a:r>
            <a:r>
              <a:rPr sz="1200" spc="125" dirty="0">
                <a:solidFill>
                  <a:srgbClr val="808080"/>
                </a:solidFill>
                <a:latin typeface="Arial"/>
                <a:cs typeface="Arial"/>
              </a:rPr>
              <a:t>input</a:t>
            </a:r>
            <a:r>
              <a:rPr sz="1200" spc="125" dirty="0">
                <a:latin typeface="Arial"/>
                <a:cs typeface="Arial"/>
              </a:rPr>
              <a:t>) </a:t>
            </a:r>
            <a:r>
              <a:rPr sz="1200" spc="150" dirty="0">
                <a:latin typeface="Arial"/>
                <a:cs typeface="Arial"/>
              </a:rPr>
              <a:t>{  </a:t>
            </a:r>
            <a:r>
              <a:rPr sz="1200" spc="140" dirty="0">
                <a:latin typeface="Arial"/>
                <a:cs typeface="Arial"/>
              </a:rPr>
              <a:t>copy(KnowledgeBase[i].responses, </a:t>
            </a:r>
            <a:r>
              <a:rPr sz="1200" spc="110" dirty="0">
                <a:latin typeface="Arial"/>
                <a:cs typeface="Arial"/>
              </a:rPr>
              <a:t>result);  </a:t>
            </a:r>
            <a:r>
              <a:rPr sz="1200" spc="125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1200" spc="3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10" dirty="0">
                <a:latin typeface="Arial"/>
                <a:cs typeface="Arial"/>
              </a:rPr>
              <a:t>result;</a:t>
            </a:r>
            <a:endParaRPr sz="1200">
              <a:latin typeface="Arial"/>
              <a:cs typeface="Arial"/>
            </a:endParaRPr>
          </a:p>
          <a:p>
            <a:pPr marL="926465">
              <a:lnSpc>
                <a:spcPts val="1330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15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10"/>
              </a:lnSpc>
            </a:pPr>
            <a:r>
              <a:rPr sz="1200" spc="175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1200" spc="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60" dirty="0">
                <a:latin typeface="Arial"/>
                <a:cs typeface="Arial"/>
              </a:rPr>
              <a:t>result;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30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469265" marR="2592705" indent="-457200">
              <a:lnSpc>
                <a:spcPts val="1400"/>
              </a:lnSpc>
              <a:spcBef>
                <a:spcPts val="5"/>
              </a:spcBef>
            </a:pPr>
            <a:r>
              <a:rPr sz="1200" spc="130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1200" spc="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40" dirty="0">
                <a:latin typeface="Arial"/>
                <a:cs typeface="Arial"/>
              </a:rPr>
              <a:t>copy(</a:t>
            </a:r>
            <a:r>
              <a:rPr sz="1200" spc="140" dirty="0">
                <a:solidFill>
                  <a:srgbClr val="0000FF"/>
                </a:solidFill>
                <a:latin typeface="Arial"/>
                <a:cs typeface="Arial"/>
              </a:rPr>
              <a:t>const</a:t>
            </a:r>
            <a:r>
              <a:rPr sz="1200" spc="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35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1200" spc="135" dirty="0">
                <a:latin typeface="Arial"/>
                <a:cs typeface="Arial"/>
              </a:rPr>
              <a:t>*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204" dirty="0">
                <a:solidFill>
                  <a:srgbClr val="808080"/>
                </a:solidFill>
                <a:latin typeface="Arial"/>
                <a:cs typeface="Arial"/>
              </a:rPr>
              <a:t>array</a:t>
            </a:r>
            <a:r>
              <a:rPr sz="1200" spc="204" dirty="0">
                <a:latin typeface="Arial"/>
                <a:cs typeface="Arial"/>
              </a:rPr>
              <a:t>[],</a:t>
            </a:r>
            <a:r>
              <a:rPr sz="1200" spc="155" dirty="0">
                <a:latin typeface="Arial"/>
                <a:cs typeface="Arial"/>
              </a:rPr>
              <a:t> </a:t>
            </a:r>
            <a:r>
              <a:rPr sz="1200" spc="130" dirty="0">
                <a:solidFill>
                  <a:srgbClr val="2B91AD"/>
                </a:solidFill>
                <a:latin typeface="Arial"/>
                <a:cs typeface="Arial"/>
              </a:rPr>
              <a:t>vstring</a:t>
            </a:r>
            <a:r>
              <a:rPr sz="1200" spc="130" dirty="0">
                <a:latin typeface="Arial"/>
                <a:cs typeface="Arial"/>
              </a:rPr>
              <a:t>&amp;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spc="120" dirty="0">
                <a:solidFill>
                  <a:srgbClr val="808080"/>
                </a:solidFill>
                <a:latin typeface="Arial"/>
                <a:cs typeface="Arial"/>
              </a:rPr>
              <a:t>v</a:t>
            </a:r>
            <a:r>
              <a:rPr sz="1200" spc="120" dirty="0">
                <a:latin typeface="Arial"/>
                <a:cs typeface="Arial"/>
              </a:rPr>
              <a:t>)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170" dirty="0">
                <a:latin typeface="Arial"/>
                <a:cs typeface="Arial"/>
              </a:rPr>
              <a:t>{  </a:t>
            </a:r>
            <a:r>
              <a:rPr sz="1200" spc="114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2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180" dirty="0">
                <a:latin typeface="Arial"/>
                <a:cs typeface="Arial"/>
              </a:rPr>
              <a:t>(</a:t>
            </a:r>
            <a:r>
              <a:rPr sz="1200" spc="180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spc="310" dirty="0">
                <a:latin typeface="Arial"/>
                <a:cs typeface="Arial"/>
              </a:rPr>
              <a:t>i</a:t>
            </a:r>
            <a:r>
              <a:rPr sz="1200" spc="4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0;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310" dirty="0">
                <a:latin typeface="Arial"/>
                <a:cs typeface="Arial"/>
              </a:rPr>
              <a:t>i</a:t>
            </a:r>
            <a:r>
              <a:rPr sz="1200" spc="4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&lt;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MAX_RESP;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25" dirty="0">
                <a:latin typeface="Arial"/>
                <a:cs typeface="Arial"/>
              </a:rPr>
              <a:t>++i)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17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6465">
              <a:lnSpc>
                <a:spcPts val="1330"/>
              </a:lnSpc>
            </a:pPr>
            <a:r>
              <a:rPr sz="1200" spc="180" dirty="0">
                <a:solidFill>
                  <a:srgbClr val="808080"/>
                </a:solidFill>
                <a:latin typeface="Arial"/>
                <a:cs typeface="Arial"/>
              </a:rPr>
              <a:t>v</a:t>
            </a:r>
            <a:r>
              <a:rPr sz="1200" spc="180" dirty="0">
                <a:latin typeface="Arial"/>
                <a:cs typeface="Arial"/>
              </a:rPr>
              <a:t>.push_back(</a:t>
            </a:r>
            <a:r>
              <a:rPr sz="1200" spc="180" dirty="0">
                <a:solidFill>
                  <a:srgbClr val="808080"/>
                </a:solidFill>
                <a:latin typeface="Arial"/>
                <a:cs typeface="Arial"/>
              </a:rPr>
              <a:t>array</a:t>
            </a:r>
            <a:r>
              <a:rPr sz="1200" spc="180" dirty="0">
                <a:latin typeface="Arial"/>
                <a:cs typeface="Arial"/>
              </a:rPr>
              <a:t>[i]);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ts val="1430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254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38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996442"/>
            <a:ext cx="6262370" cy="154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082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  <a:p>
            <a:pPr marL="12700" marR="381635">
              <a:lnSpc>
                <a:spcPts val="1380"/>
              </a:lnSpc>
              <a:spcBef>
                <a:spcPts val="155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After </a:t>
            </a: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learning various techniques of building a conversational chat bot and integrating </a:t>
            </a: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it  </a:t>
            </a: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with the REST API’s, </a:t>
            </a: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I started </a:t>
            </a: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building the </a:t>
            </a: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bot for </a:t>
            </a: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the Meridian</a:t>
            </a:r>
            <a:r>
              <a:rPr sz="1200" spc="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project.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444444"/>
                </a:solidFill>
                <a:latin typeface="Arial"/>
                <a:cs typeface="Arial"/>
              </a:rPr>
              <a:t>Technologies/Platforms/Tools: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200" i="1" spc="-5" dirty="0">
                <a:solidFill>
                  <a:srgbClr val="444444"/>
                </a:solidFill>
                <a:latin typeface="Arial"/>
                <a:cs typeface="Arial"/>
              </a:rPr>
              <a:t>Microsoft </a:t>
            </a:r>
            <a:r>
              <a:rPr sz="1200" i="1" spc="-10" dirty="0">
                <a:solidFill>
                  <a:srgbClr val="444444"/>
                </a:solidFill>
                <a:latin typeface="Arial"/>
                <a:cs typeface="Arial"/>
              </a:rPr>
              <a:t>Azure </a:t>
            </a:r>
            <a:r>
              <a:rPr sz="1200" i="1" dirty="0">
                <a:solidFill>
                  <a:srgbClr val="444444"/>
                </a:solidFill>
                <a:latin typeface="Arial"/>
                <a:cs typeface="Arial"/>
              </a:rPr>
              <a:t>Cloud </a:t>
            </a:r>
            <a:r>
              <a:rPr sz="1200" i="1" spc="-5" dirty="0">
                <a:solidFill>
                  <a:srgbClr val="444444"/>
                </a:solidFill>
                <a:latin typeface="Arial"/>
                <a:cs typeface="Arial"/>
              </a:rPr>
              <a:t>Computing Platform </a:t>
            </a:r>
            <a:r>
              <a:rPr sz="1200" i="1" dirty="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sz="1200" i="1" spc="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444444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421251"/>
            <a:ext cx="1296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444444"/>
                </a:solidFill>
                <a:latin typeface="Arial"/>
                <a:cs typeface="Arial"/>
              </a:rPr>
              <a:t>Visual </a:t>
            </a:r>
            <a:r>
              <a:rPr sz="1200" i="1" spc="-5" dirty="0">
                <a:solidFill>
                  <a:srgbClr val="444444"/>
                </a:solidFill>
                <a:latin typeface="Arial"/>
                <a:cs typeface="Arial"/>
              </a:rPr>
              <a:t>Studio</a:t>
            </a:r>
            <a:r>
              <a:rPr sz="1200" i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444444"/>
                </a:solidFill>
                <a:latin typeface="Arial"/>
                <a:cs typeface="Arial"/>
              </a:rPr>
              <a:t>2019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692265"/>
            <a:ext cx="1068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444444"/>
                </a:solidFill>
                <a:latin typeface="Arial"/>
                <a:cs typeface="Arial"/>
              </a:rPr>
              <a:t>Engati</a:t>
            </a:r>
            <a:r>
              <a:rPr sz="1200" i="1" spc="-3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444444"/>
                </a:solidFill>
                <a:latin typeface="Arial"/>
                <a:cs typeface="Arial"/>
              </a:rPr>
              <a:t>Platform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86025" y="2709545"/>
            <a:ext cx="2791460" cy="1394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76500" y="4795520"/>
            <a:ext cx="2787650" cy="1568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99410" y="7579994"/>
            <a:ext cx="1993773" cy="4140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6619" y="9189084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40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1522221"/>
            <a:ext cx="2498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u="none" dirty="0">
                <a:solidFill>
                  <a:srgbClr val="202020"/>
                </a:solidFill>
                <a:latin typeface="Arial"/>
                <a:cs typeface="Arial"/>
              </a:rPr>
              <a:t>BOT </a:t>
            </a:r>
            <a:r>
              <a:rPr sz="2400" b="0" u="none" spc="-5" dirty="0">
                <a:solidFill>
                  <a:srgbClr val="202020"/>
                </a:solidFill>
                <a:latin typeface="Arial"/>
                <a:cs typeface="Arial"/>
              </a:rPr>
              <a:t>NAME:</a:t>
            </a:r>
            <a:r>
              <a:rPr sz="2400" b="0" u="none" spc="-7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400" b="0" u="none" dirty="0">
                <a:solidFill>
                  <a:srgbClr val="202020"/>
                </a:solidFill>
                <a:latin typeface="Arial"/>
                <a:cs typeface="Arial"/>
              </a:rPr>
              <a:t>OPTI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2233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676" y="2060193"/>
            <a:ext cx="4747895" cy="56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Various components of </a:t>
            </a: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Opti are </a:t>
            </a: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described</a:t>
            </a:r>
            <a:r>
              <a:rPr sz="12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44444"/>
                </a:solidFill>
                <a:latin typeface="Arial"/>
                <a:cs typeface="Arial"/>
              </a:rPr>
              <a:t>below:-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655320">
              <a:lnSpc>
                <a:spcPct val="100000"/>
              </a:lnSpc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1.)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WELCOME </a:t>
            </a:r>
            <a:r>
              <a:rPr sz="1200" u="sng" spc="-1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NEW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USER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&amp;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GREET RETURNING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USER</a:t>
            </a:r>
            <a:r>
              <a:rPr sz="1200" u="sng" spc="-10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7753" y="5020436"/>
            <a:ext cx="2887345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3300"/>
              </a:lnSpc>
              <a:spcBef>
                <a:spcPts val="100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2.)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REVIEWING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PAST APPOINTMENTS</a:t>
            </a:r>
            <a:r>
              <a:rPr sz="1200" u="sng" spc="-6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 A.)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ESIMATE</a:t>
            </a:r>
            <a:r>
              <a:rPr sz="1200" u="sng" spc="254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DETAILS: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0454" y="1299844"/>
            <a:ext cx="540765" cy="540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4400" y="2788285"/>
            <a:ext cx="5882005" cy="1844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4400" y="5905550"/>
            <a:ext cx="6009640" cy="31716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6619" y="9226550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4400" y="457136"/>
            <a:ext cx="1713864" cy="7740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41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4954" y="1447545"/>
            <a:ext cx="2125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B.)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APPOINTMENT DETAILS</a:t>
            </a:r>
            <a:r>
              <a:rPr sz="1200" u="sng" spc="-4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7753" y="4802251"/>
            <a:ext cx="2439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3.)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BOOKING AN APPOINTMENT</a:t>
            </a:r>
            <a:r>
              <a:rPr sz="1200" u="sng" spc="-3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1821179"/>
            <a:ext cx="6172200" cy="26362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4400" y="5176520"/>
            <a:ext cx="6211315" cy="3469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6619" y="9208134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7753" y="1630426"/>
            <a:ext cx="1914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4.)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GET COST ESTIMATE</a:t>
            </a:r>
            <a:r>
              <a:rPr sz="1200" u="sng" spc="-4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7753" y="4471542"/>
            <a:ext cx="1068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5.)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PAYMENT</a:t>
            </a:r>
            <a:r>
              <a:rPr sz="1200" u="sng" spc="-6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7620761"/>
            <a:ext cx="2584450" cy="117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6.)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SAMPLE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JSON INPUT</a:t>
            </a:r>
            <a:r>
              <a:rPr sz="1200" u="sng" spc="-80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15" dirty="0">
                <a:solidFill>
                  <a:srgbClr val="444444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82550" marR="901700">
              <a:lnSpc>
                <a:spcPct val="212000"/>
              </a:lnSpc>
              <a:spcBef>
                <a:spcPts val="1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"inNetwork": true,  "industryPayerId":</a:t>
            </a:r>
            <a:r>
              <a:rPr sz="10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"AUTO1",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2174239"/>
            <a:ext cx="5930900" cy="19792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4400" y="4844415"/>
            <a:ext cx="6017895" cy="2374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6619" y="9206865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43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2108" y="1279905"/>
            <a:ext cx="2109470" cy="406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"dateOfService":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"2019-12-27",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"subscriber":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82550" marR="386080">
              <a:lnSpc>
                <a:spcPct val="212500"/>
              </a:lnSpc>
              <a:spcBef>
                <a:spcPts val="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"dateOfBirth": "1978-08-13",  "gender": "MALE",  "memberId":</a:t>
            </a:r>
            <a:r>
              <a:rPr sz="1000" spc="-3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"00918345566",</a:t>
            </a:r>
            <a:endParaRPr sz="1000">
              <a:latin typeface="Arial"/>
              <a:cs typeface="Arial"/>
            </a:endParaRPr>
          </a:p>
          <a:p>
            <a:pPr marL="82550" marR="89535">
              <a:lnSpc>
                <a:spcPts val="2560"/>
              </a:lnSpc>
              <a:spcBef>
                <a:spcPts val="309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"planEffectiveDate": "2018-02-01",  "name":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154305" marR="5080">
              <a:lnSpc>
                <a:spcPts val="2540"/>
              </a:lnSpc>
              <a:spcBef>
                <a:spcPts val="20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"firstName": "JULIE",  "lastNameOrOrgName":</a:t>
            </a:r>
            <a:r>
              <a:rPr sz="1000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"EVANS",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"middleName":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"prefix":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"suffix":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 ""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</a:pPr>
            <a:r>
              <a:rPr sz="1000" spc="-15" dirty="0">
                <a:solidFill>
                  <a:srgbClr val="444444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2108" y="5811392"/>
            <a:ext cx="3498215" cy="3089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},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"medicalServiceId":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1,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"placeOfService":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24,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"planId":</a:t>
            </a:r>
            <a:r>
              <a:rPr sz="1000" spc="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"121212",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"provider":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154305" marR="2508250" indent="-71755">
              <a:lnSpc>
                <a:spcPts val="2560"/>
              </a:lnSpc>
              <a:spcBef>
                <a:spcPts val="300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"name": {  "firstName":</a:t>
            </a:r>
            <a:r>
              <a:rPr sz="10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"",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5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"lastNameOrOrgName": "HOUSTON MEDICAL</a:t>
            </a:r>
            <a:r>
              <a:rPr sz="1000" spc="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IMAGING",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"middleName":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"prefix":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"MD",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619" y="9241155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44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5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276858"/>
            <a:ext cx="5951220" cy="3425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>
              <a:lnSpc>
                <a:spcPts val="1180"/>
              </a:lnSpc>
              <a:spcBef>
                <a:spcPts val="95"/>
              </a:spcBef>
              <a:tabLst>
                <a:tab pos="1783714" algn="l"/>
                <a:tab pos="2374900" algn="l"/>
                <a:tab pos="3474085" algn="l"/>
              </a:tabLst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"response271":"ISA*00*	*00*	*ZZ*841162764	*30*621249087</a:t>
            </a:r>
            <a:endParaRPr sz="1000">
              <a:latin typeface="Arial"/>
              <a:cs typeface="Arial"/>
            </a:endParaRPr>
          </a:p>
          <a:p>
            <a:pPr marL="12700" marR="67945">
              <a:lnSpc>
                <a:spcPts val="1150"/>
              </a:lnSpc>
              <a:spcBef>
                <a:spcPts val="60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*190205*0556*^*00501*036055635*0*P*:~GS*HB*841162764*621249087*20190205*0556*1*X*005010  </a:t>
            </a:r>
            <a:r>
              <a:rPr sz="1000" spc="-35" dirty="0">
                <a:solidFill>
                  <a:srgbClr val="444444"/>
                </a:solidFill>
                <a:latin typeface="Arial"/>
                <a:cs typeface="Arial"/>
              </a:rPr>
              <a:t>X279A1~ST*271*000000001*005010X279A1~BHT*0022*11*295337315*20190205*0656~HL*1**20*1~N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M1*PR*2*GEHA*****PI*440545275~HL*2*1*21*1~NM1*1P*1*TRAUTMANN*PAUL****XX*1942385091~</a:t>
            </a:r>
            <a:endParaRPr sz="1000">
              <a:latin typeface="Arial"/>
              <a:cs typeface="Arial"/>
            </a:endParaRPr>
          </a:p>
          <a:p>
            <a:pPr marL="12700" marR="48260">
              <a:lnSpc>
                <a:spcPct val="95800"/>
              </a:lnSpc>
              <a:spcBef>
                <a:spcPts val="30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HL*3*2*22*0~NM1*IL*1*Sosa*Roxanne*M***MI*23751754~REF*HJ*0~REF*6P*10000001*Federal  Employee Health Benefit Program~N3*354 Rio Azul~N4*Pipe  Creek*TX*780636175~DMG*D8*19780813*F~EB*1*FAM*30*PR*Standard Option Medical  FEHB~DTP*291*D8*20150622~EB*P***********W~MSG*UNLESS OTHERWISE REQUIRED BY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LAW,  THIS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NOTICE IS NOT A GUARANTEE OF PAYMENT. BENEFITS ARE SUBJECT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TO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ALL CONTRACT  LIMITS AND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MEMBER'S STATUS ON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DATE OF SERVICE. ACCUMULATED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AMOUNTS 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SUCH 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AS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DEDUCTIBLE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MAY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CHANGE </a:t>
            </a:r>
            <a:r>
              <a:rPr sz="1000" spc="-10" dirty="0">
                <a:solidFill>
                  <a:srgbClr val="444444"/>
                </a:solidFill>
                <a:latin typeface="Arial"/>
                <a:cs typeface="Arial"/>
              </a:rPr>
              <a:t>AS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ADDITIONAL </a:t>
            </a:r>
            <a:r>
              <a:rPr sz="1000" dirty="0">
                <a:solidFill>
                  <a:srgbClr val="444444"/>
                </a:solidFill>
                <a:latin typeface="Arial"/>
                <a:cs typeface="Arial"/>
              </a:rPr>
              <a:t>CLAIMS</a:t>
            </a:r>
            <a:r>
              <a:rPr sz="1000" spc="4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ARE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PROCESSED.~EB*C*IND*30***23*350*****W~EB*C*IND*30***29*341.1*****W~III*ZZ*12~EB*C*FAM*30</a:t>
            </a:r>
            <a:endParaRPr sz="1000">
              <a:latin typeface="Arial"/>
              <a:cs typeface="Arial"/>
            </a:endParaRPr>
          </a:p>
          <a:p>
            <a:pPr marL="12700" marR="22860">
              <a:lnSpc>
                <a:spcPct val="95700"/>
              </a:lnSpc>
              <a:spcBef>
                <a:spcPts val="25"/>
              </a:spcBef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***23*700*****W~EB*C*FAM*30***29*219.17*****W~III*ZZ*10~EB*C*FAM*30***23*700*****W~EB*C*FA  M*30***29*219.17*****W~III*ZZ*11~EB*C*FAM*30***23*700*****W~EB*C*FAM*30***29*219.17*****W~II  </a:t>
            </a:r>
            <a:r>
              <a:rPr sz="1000" spc="-30" dirty="0">
                <a:solidFill>
                  <a:srgbClr val="444444"/>
                </a:solidFill>
                <a:latin typeface="Arial"/>
                <a:cs typeface="Arial"/>
              </a:rPr>
              <a:t>I*ZZ*24~EB*G*FAM*30***23*6000*****Y~EB*G*FAM*30***29*5449.96*****Y~III*ZZ*12~EB*G*FAM*30*** 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23*6000*****Y~EB*G*FAM*30***29*5449.96*****Y~III*ZZ*11~EB*G*FAM*30***23*6000*****Y~EB*G*FA  M*30***29*5449.96*****Y~III*ZZ*10~EB*G*FAM*30***23*6000*****Y~EB*G*FAM*30***29*5449.96*****Y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05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~III*ZZ*24~EB*A*IND*5*****.22****Y~III*ZZ*22~EB*A*IND*5*****.21****Y~III*ZZ*21~EB*A*IND*5*****.20*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6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***Y~III*ZZ*20~EB*A*IND*30*****.12****Y~III*ZZ*12~EB*A*IND*30*****.11****Y~III*ZZ*11~EB*A*IND*30*</a:t>
            </a:r>
            <a:endParaRPr sz="1000">
              <a:latin typeface="Arial"/>
              <a:cs typeface="Arial"/>
            </a:endParaRPr>
          </a:p>
          <a:p>
            <a:pPr marL="12700" marR="309245">
              <a:lnSpc>
                <a:spcPts val="1150"/>
              </a:lnSpc>
              <a:spcBef>
                <a:spcPts val="65"/>
              </a:spcBef>
            </a:pPr>
            <a:r>
              <a:rPr sz="1000" spc="-30" dirty="0">
                <a:solidFill>
                  <a:srgbClr val="444444"/>
                </a:solidFill>
                <a:latin typeface="Arial"/>
                <a:cs typeface="Arial"/>
              </a:rPr>
              <a:t>****.10****Y~III*ZZ*10~EB*A*IND*98*****.32****Y~III*ZZ*32~EB*A*IND*98*****.31****Y~III*ZZ*31~EB*A*I  </a:t>
            </a: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ND*98*****.30****Y~III*ZZ*30~SE*42*000000001~GE*1*1~IEA*1*036055635~",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</a:pPr>
            <a:r>
              <a:rPr sz="1000" spc="-5" dirty="0">
                <a:solidFill>
                  <a:srgbClr val="444444"/>
                </a:solidFill>
                <a:latin typeface="Arial"/>
                <a:cs typeface="Arial"/>
              </a:rPr>
              <a:t>"taxonomyCode": "1212121212" }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3453" y="5195696"/>
            <a:ext cx="3957954" cy="3805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1415"/>
              </a:lnSpc>
              <a:spcBef>
                <a:spcPts val="100"/>
              </a:spcBef>
            </a:pP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7.)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SAMPLE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JSON </a:t>
            </a:r>
            <a:r>
              <a:rPr sz="1200" u="sng" spc="-5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OUTPUT</a:t>
            </a:r>
            <a:r>
              <a:rPr sz="1200" u="sng" spc="-10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444444"/>
                </a:solidFill>
                <a:uFill>
                  <a:solidFill>
                    <a:srgbClr val="444444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sz="1200" spc="-3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82550" marR="5080">
              <a:lnSpc>
                <a:spcPts val="1689"/>
              </a:lnSpc>
              <a:spcBef>
                <a:spcPts val="85"/>
              </a:spcBef>
            </a:pPr>
            <a:r>
              <a:rPr sz="1200" spc="-65" dirty="0">
                <a:solidFill>
                  <a:srgbClr val="535353"/>
                </a:solidFill>
                <a:latin typeface="Arial"/>
                <a:cs typeface="Arial"/>
              </a:rPr>
              <a:t>"transactionUuid"</a:t>
            </a:r>
            <a:r>
              <a:rPr sz="1200" spc="-65" dirty="0">
                <a:latin typeface="Arial"/>
                <a:cs typeface="Arial"/>
              </a:rPr>
              <a:t>: </a:t>
            </a:r>
            <a:r>
              <a:rPr sz="1200" spc="-70" dirty="0">
                <a:solidFill>
                  <a:srgbClr val="535353"/>
                </a:solidFill>
                <a:latin typeface="Arial"/>
                <a:cs typeface="Arial"/>
              </a:rPr>
              <a:t>"a172a6a2-9262-4dea-8d47-165eb4c916b5"</a:t>
            </a:r>
            <a:r>
              <a:rPr sz="1200" spc="-70" dirty="0">
                <a:latin typeface="Arial"/>
                <a:cs typeface="Arial"/>
              </a:rPr>
              <a:t>, 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"benefits"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220979" marR="2371090" indent="-71755">
              <a:lnSpc>
                <a:spcPts val="1680"/>
              </a:lnSpc>
              <a:spcBef>
                <a:spcPts val="15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"outOfPocket"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dirty="0">
                <a:latin typeface="Arial"/>
                <a:cs typeface="Arial"/>
              </a:rPr>
              <a:t>{  </a:t>
            </a:r>
            <a:r>
              <a:rPr sz="1200" spc="-30" dirty="0">
                <a:solidFill>
                  <a:srgbClr val="535353"/>
                </a:solidFill>
                <a:latin typeface="Arial"/>
                <a:cs typeface="Arial"/>
              </a:rPr>
              <a:t>"remaining"</a:t>
            </a:r>
            <a:r>
              <a:rPr sz="1200" spc="-30" dirty="0">
                <a:latin typeface="Arial"/>
                <a:cs typeface="Arial"/>
              </a:rPr>
              <a:t>:</a:t>
            </a:r>
            <a:r>
              <a:rPr sz="1200" spc="-254" dirty="0"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5449</a:t>
            </a:r>
            <a:r>
              <a:rPr sz="1200" spc="-35" dirty="0">
                <a:latin typeface="Arial"/>
                <a:cs typeface="Arial"/>
              </a:rPr>
              <a:t>.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96</a:t>
            </a:r>
            <a:r>
              <a:rPr sz="1200" spc="-35" dirty="0">
                <a:latin typeface="Arial"/>
                <a:cs typeface="Arial"/>
              </a:rPr>
              <a:t>, 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"family"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"max"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6000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"met"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550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04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50"/>
              </a:spcBef>
            </a:pPr>
            <a:r>
              <a:rPr sz="1200" dirty="0">
                <a:solidFill>
                  <a:srgbClr val="535353"/>
                </a:solidFill>
                <a:latin typeface="Arial"/>
                <a:cs typeface="Arial"/>
              </a:rPr>
              <a:t>"remaining"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5449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96</a:t>
            </a:r>
            <a:endParaRPr sz="12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245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289560" marR="2894330" indent="-68580">
              <a:lnSpc>
                <a:spcPct val="116700"/>
              </a:lnSpc>
              <a:spcBef>
                <a:spcPts val="20"/>
              </a:spcBef>
            </a:pPr>
            <a:r>
              <a:rPr sz="1200" spc="-30" dirty="0">
                <a:solidFill>
                  <a:srgbClr val="535353"/>
                </a:solidFill>
                <a:latin typeface="Arial"/>
                <a:cs typeface="Arial"/>
              </a:rPr>
              <a:t>"individual"</a:t>
            </a:r>
            <a:r>
              <a:rPr sz="1200" spc="-30" dirty="0">
                <a:latin typeface="Arial"/>
                <a:cs typeface="Arial"/>
              </a:rPr>
              <a:t>: { 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"max"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null,</a:t>
            </a:r>
            <a:endParaRPr sz="1200">
              <a:latin typeface="Arial"/>
              <a:cs typeface="Arial"/>
            </a:endParaRPr>
          </a:p>
          <a:p>
            <a:pPr marL="289560" marR="2617470">
              <a:lnSpc>
                <a:spcPts val="1689"/>
              </a:lnSpc>
              <a:spcBef>
                <a:spcPts val="9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"met"</a:t>
            </a:r>
            <a:r>
              <a:rPr sz="1200" spc="-5" dirty="0">
                <a:latin typeface="Arial"/>
                <a:cs typeface="Arial"/>
              </a:rPr>
              <a:t>: null,  </a:t>
            </a:r>
            <a:r>
              <a:rPr sz="1200" spc="-30" dirty="0">
                <a:solidFill>
                  <a:srgbClr val="535353"/>
                </a:solidFill>
                <a:latin typeface="Arial"/>
                <a:cs typeface="Arial"/>
              </a:rPr>
              <a:t>"remaining"</a:t>
            </a:r>
            <a:r>
              <a:rPr sz="1200" spc="-30" dirty="0">
                <a:latin typeface="Arial"/>
                <a:cs typeface="Arial"/>
              </a:rPr>
              <a:t>: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120"/>
              </a:spcBef>
            </a:pPr>
            <a:r>
              <a:rPr sz="1200" spc="-30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49225">
              <a:lnSpc>
                <a:spcPct val="100000"/>
              </a:lnSpc>
              <a:spcBef>
                <a:spcPts val="250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149225">
              <a:lnSpc>
                <a:spcPct val="100000"/>
              </a:lnSpc>
              <a:spcBef>
                <a:spcPts val="254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"deductible"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{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619" y="9242425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46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709" y="996442"/>
            <a:ext cx="225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PROJECT: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MERIDIAN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3558" y="1249426"/>
            <a:ext cx="2342515" cy="772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882650">
              <a:lnSpc>
                <a:spcPct val="116700"/>
              </a:lnSpc>
              <a:spcBef>
                <a:spcPts val="100"/>
              </a:spcBef>
            </a:pPr>
            <a:r>
              <a:rPr sz="1200" spc="-30" dirty="0">
                <a:solidFill>
                  <a:srgbClr val="535353"/>
                </a:solidFill>
                <a:latin typeface="Arial"/>
                <a:cs typeface="Arial"/>
              </a:rPr>
              <a:t>"remaining"</a:t>
            </a:r>
            <a:r>
              <a:rPr sz="1200" spc="-30" dirty="0">
                <a:latin typeface="Arial"/>
                <a:cs typeface="Arial"/>
              </a:rPr>
              <a:t>: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219</a:t>
            </a:r>
            <a:r>
              <a:rPr sz="1200" spc="-35" dirty="0">
                <a:latin typeface="Arial"/>
                <a:cs typeface="Arial"/>
              </a:rPr>
              <a:t>.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17</a:t>
            </a:r>
            <a:r>
              <a:rPr sz="1200" spc="-35" dirty="0">
                <a:latin typeface="Arial"/>
                <a:cs typeface="Arial"/>
              </a:rPr>
              <a:t>, 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"family"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{</a:t>
            </a:r>
            <a:endParaRPr sz="1200">
              <a:latin typeface="Arial"/>
              <a:cs typeface="Arial"/>
            </a:endParaRPr>
          </a:p>
          <a:p>
            <a:pPr marR="1115060" algn="ctr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"max"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700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"met"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480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83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R="563245" algn="ctr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535353"/>
                </a:solidFill>
                <a:latin typeface="Arial"/>
                <a:cs typeface="Arial"/>
              </a:rPr>
              <a:t>"remaining"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219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50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219710" marR="1337945" indent="-105410">
              <a:lnSpc>
                <a:spcPct val="115799"/>
              </a:lnSpc>
              <a:spcBef>
                <a:spcPts val="25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"individual"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  </a:t>
            </a:r>
            <a:r>
              <a:rPr sz="1200" spc="-35" dirty="0">
                <a:solidFill>
                  <a:srgbClr val="535353"/>
                </a:solidFill>
                <a:latin typeface="Arial"/>
                <a:cs typeface="Arial"/>
              </a:rPr>
              <a:t>"max"</a:t>
            </a:r>
            <a:r>
              <a:rPr sz="1200" spc="-35" dirty="0">
                <a:latin typeface="Arial"/>
                <a:cs typeface="Arial"/>
              </a:rPr>
              <a:t>: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350</a:t>
            </a:r>
            <a:r>
              <a:rPr sz="1200" spc="-3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R="1191260" algn="ctr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"met"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8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9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R="648970" algn="ctr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solidFill>
                  <a:srgbClr val="535353"/>
                </a:solidFill>
                <a:latin typeface="Arial"/>
                <a:cs typeface="Arial"/>
              </a:rPr>
              <a:t>"remaining"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341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50"/>
              </a:spcBef>
            </a:pPr>
            <a:r>
              <a:rPr sz="1200" spc="-30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"copayment"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35353"/>
                </a:solidFill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54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"coinsuranceRate"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0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11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"limitationAmount"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79375" marR="472440" indent="-67310">
              <a:lnSpc>
                <a:spcPct val="116700"/>
              </a:lnSpc>
              <a:spcBef>
                <a:spcPts val="1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"estimate"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dirty="0">
                <a:latin typeface="Arial"/>
                <a:cs typeface="Arial"/>
              </a:rPr>
              <a:t>{ 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"patientResponsibility"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dirty="0">
                <a:latin typeface="Arial"/>
                <a:cs typeface="Arial"/>
              </a:rPr>
              <a:t>{  </a:t>
            </a:r>
            <a:r>
              <a:rPr sz="1200" spc="-30" dirty="0">
                <a:solidFill>
                  <a:srgbClr val="535353"/>
                </a:solidFill>
                <a:latin typeface="Arial"/>
                <a:cs typeface="Arial"/>
              </a:rPr>
              <a:t>"deductiblePortion"</a:t>
            </a:r>
            <a:r>
              <a:rPr sz="1200" spc="-30" dirty="0">
                <a:latin typeface="Arial"/>
                <a:cs typeface="Arial"/>
              </a:rPr>
              <a:t>: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219</a:t>
            </a:r>
            <a:r>
              <a:rPr sz="1200" spc="-35" dirty="0">
                <a:latin typeface="Arial"/>
                <a:cs typeface="Arial"/>
              </a:rPr>
              <a:t>.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17</a:t>
            </a:r>
            <a:r>
              <a:rPr sz="1200" spc="-3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"copaymentPortion"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35353"/>
                </a:solidFill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"coinsurancePortion"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415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8913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5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"nonCoveredPortion"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35353"/>
                </a:solidFill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"amount"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635</a:t>
            </a:r>
            <a:r>
              <a:rPr sz="1200" spc="-5" dirty="0">
                <a:latin typeface="Arial"/>
                <a:cs typeface="Arial"/>
              </a:rPr>
              <a:t>.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0613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54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151130" marR="769620" indent="-71755">
              <a:lnSpc>
                <a:spcPct val="116700"/>
              </a:lnSpc>
            </a:pPr>
            <a:r>
              <a:rPr sz="1200" spc="-30" dirty="0">
                <a:solidFill>
                  <a:srgbClr val="535353"/>
                </a:solidFill>
                <a:latin typeface="Arial"/>
                <a:cs typeface="Arial"/>
              </a:rPr>
              <a:t>"payerResponsibility"</a:t>
            </a:r>
            <a:r>
              <a:rPr sz="1200" spc="-30" dirty="0">
                <a:latin typeface="Arial"/>
                <a:cs typeface="Arial"/>
              </a:rPr>
              <a:t>: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{  </a:t>
            </a:r>
            <a:r>
              <a:rPr sz="1200" spc="-35" dirty="0">
                <a:solidFill>
                  <a:srgbClr val="535353"/>
                </a:solidFill>
                <a:latin typeface="Arial"/>
                <a:cs typeface="Arial"/>
              </a:rPr>
              <a:t>"amount"</a:t>
            </a:r>
            <a:r>
              <a:rPr sz="1200" spc="-35" dirty="0">
                <a:latin typeface="Arial"/>
                <a:cs typeface="Arial"/>
              </a:rPr>
              <a:t>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3364</a:t>
            </a:r>
            <a:r>
              <a:rPr sz="1200" spc="-35" dirty="0">
                <a:latin typeface="Arial"/>
                <a:cs typeface="Arial"/>
              </a:rPr>
              <a:t>.</a:t>
            </a:r>
            <a:r>
              <a:rPr sz="1200" b="1" spc="-35" dirty="0">
                <a:solidFill>
                  <a:srgbClr val="535353"/>
                </a:solidFill>
                <a:latin typeface="Arial"/>
                <a:cs typeface="Arial"/>
              </a:rPr>
              <a:t>9387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"amount"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4000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latin typeface="Arial"/>
                <a:cs typeface="Arial"/>
              </a:rPr>
              <a:t>},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"serviceLines"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</a:t>
            </a:r>
            <a:endParaRPr sz="1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50"/>
              </a:spcBef>
            </a:pPr>
            <a:r>
              <a:rPr sz="1200" spc="-30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"cptCode"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"91000"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"modifier1"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"M1"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40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"modifier2"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"M2"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54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"modifier3"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50" dirty="0"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""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235"/>
              </a:spcBef>
            </a:pP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"modifier4"</a:t>
            </a:r>
            <a:r>
              <a:rPr sz="1200" spc="-5" dirty="0">
                <a:latin typeface="Arial"/>
                <a:cs typeface="Arial"/>
              </a:rPr>
              <a:t>:</a:t>
            </a:r>
            <a:r>
              <a:rPr sz="1200" spc="-150" dirty="0"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35353"/>
                </a:solidFill>
                <a:latin typeface="Arial"/>
                <a:cs typeface="Arial"/>
              </a:rPr>
              <a:t>""</a:t>
            </a:r>
            <a:r>
              <a:rPr sz="1200" spc="-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619" y="9240519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400" y="457771"/>
            <a:ext cx="1713864" cy="774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47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2114" y="783082"/>
            <a:ext cx="17043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heavy" spc="-155" dirty="0">
                <a:solidFill>
                  <a:srgbClr val="365F92"/>
                </a:solidFill>
                <a:uFill>
                  <a:solidFill>
                    <a:srgbClr val="365F92"/>
                  </a:solidFill>
                </a:uFill>
                <a:latin typeface="Georgia"/>
                <a:cs typeface="Georgia"/>
              </a:rPr>
              <a:t>REFERENCES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9296" y="4177157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4846" y="0"/>
                </a:lnTo>
              </a:path>
            </a:pathLst>
          </a:custGeom>
          <a:ln w="1066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7996" y="1464309"/>
            <a:ext cx="6764020" cy="327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https://www.expertsystem.com/chatbot/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https://www.infoworld.com/article/3244546/9-chatbot-building-tools.html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https://chatbotslife.com/dialogflow-restaurant-bot-tutorial-1-45ce1d3c0ab5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https://www.analyticsvidhya.com/blog/2019/04/learn-build-chatbot-rasa-nlp-ipl/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https://engati.com/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7"/>
              </a:rPr>
              <a:t>https://knowledgebase.engati.com/kb/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8"/>
              </a:rPr>
              <a:t>https://visualstudio.microsoft.com/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"/>
            </a:pPr>
            <a:endParaRPr sz="13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380"/>
              </a:lnSpc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spc="-5" dirty="0">
                <a:solidFill>
                  <a:srgbClr val="0000FF"/>
                </a:solidFill>
                <a:latin typeface="Arial"/>
                <a:cs typeface="Arial"/>
                <a:hlinkClick r:id="rId9"/>
              </a:rPr>
              <a:t>https://www.google.com/search?q=azure+portal&amp;oq=azure&amp;aqs=chrome.1.69i57j0l3j69i61l2.258 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9"/>
              </a:rPr>
              <a:t> 7j0j4&amp;sourceid=chrome&amp;ie=UTF-8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"/>
            </a:pPr>
            <a:endParaRPr sz="11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"/>
              <a:tabLst>
                <a:tab pos="241300" algn="l"/>
              </a:tabLst>
            </a:pP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0"/>
              </a:rPr>
              <a:t>https://swagger.io/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619" y="9204959"/>
            <a:ext cx="5981065" cy="0"/>
          </a:xfrm>
          <a:custGeom>
            <a:avLst/>
            <a:gdLst/>
            <a:ahLst/>
            <a:cxnLst/>
            <a:rect l="l" t="t" r="r" b="b"/>
            <a:pathLst>
              <a:path w="5981065">
                <a:moveTo>
                  <a:pt x="0" y="0"/>
                </a:moveTo>
                <a:lnTo>
                  <a:pt x="5981064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6991" y="310895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0895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63027" y="304800"/>
            <a:ext cx="0" cy="9438640"/>
          </a:xfrm>
          <a:custGeom>
            <a:avLst/>
            <a:gdLst/>
            <a:ahLst/>
            <a:cxnLst/>
            <a:rect l="l" t="t" r="r" b="b"/>
            <a:pathLst>
              <a:path h="9438640">
                <a:moveTo>
                  <a:pt x="0" y="0"/>
                </a:moveTo>
                <a:lnTo>
                  <a:pt x="0" y="943813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800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2" y="12191"/>
                </a:lnTo>
                <a:lnTo>
                  <a:pt x="12192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991" y="9749028"/>
            <a:ext cx="7139940" cy="0"/>
          </a:xfrm>
          <a:custGeom>
            <a:avLst/>
            <a:gdLst/>
            <a:ahLst/>
            <a:cxnLst/>
            <a:rect l="l" t="t" r="r" b="b"/>
            <a:pathLst>
              <a:path w="7139940">
                <a:moveTo>
                  <a:pt x="0" y="0"/>
                </a:moveTo>
                <a:lnTo>
                  <a:pt x="713994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6931" y="974293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12191"/>
                </a:moveTo>
                <a:lnTo>
                  <a:pt x="12191" y="12191"/>
                </a:lnTo>
                <a:lnTo>
                  <a:pt x="12191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r>
              <a:rPr b="1" spc="-2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155" dirty="0">
                <a:solidFill>
                  <a:srgbClr val="000000"/>
                </a:solidFill>
                <a:latin typeface="Arial"/>
                <a:cs typeface="Arial"/>
              </a:rPr>
              <a:t>|</a:t>
            </a:r>
            <a:r>
              <a:rPr b="1" spc="-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g</a:t>
            </a:r>
            <a:r>
              <a:rPr spc="-110" dirty="0"/>
              <a:t> </a:t>
            </a:r>
            <a:r>
              <a:rPr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Words>1751</Words>
  <Application>Microsoft Office PowerPoint</Application>
  <PresentationFormat>Custom</PresentationFormat>
  <Paragraphs>316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PROJECT REPORT</vt:lpstr>
      <vt:lpstr>HOW TO BUILD A  CHATBOT WITH  ENGATI.COM</vt:lpstr>
      <vt:lpstr>Slide 5</vt:lpstr>
      <vt:lpstr>Slide 6</vt:lpstr>
      <vt:lpstr>Slide 7</vt:lpstr>
      <vt:lpstr>C++ CODE</vt:lpstr>
      <vt:lpstr>Slide 9</vt:lpstr>
      <vt:lpstr>Slide 10</vt:lpstr>
      <vt:lpstr>Slide 11</vt:lpstr>
      <vt:lpstr>BOT NAME: OPTI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anas</dc:creator>
  <cp:lastModifiedBy>anas</cp:lastModifiedBy>
  <cp:revision>1</cp:revision>
  <dcterms:created xsi:type="dcterms:W3CDTF">2019-10-13T08:31:23Z</dcterms:created>
  <dcterms:modified xsi:type="dcterms:W3CDTF">2019-10-13T13:59:36Z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2019-08-02T00:00:00Z</vt:filetime>
  </property>
  <property fmtid="{D5CDD505-2E9C-101B-9397-08002B2CF9AE}" pid="3" name="Creator">
    <vt:lpwstr>Microsoft® Word for Office 365</vt:lpwstr>
  </property>
  <property fmtid="{D5CDD505-2E9C-101B-9397-08002B2CF9AE}" pid="4" name="LastSaved">
    <vt:filetime>2019-10-13T00:00:00Z</vt:filetime>
  </property>
</Properties>
</file>